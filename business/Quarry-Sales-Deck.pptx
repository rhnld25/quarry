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828800"/>
            <a:ext cx="6766560" cy="36576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EA4D6"/>
                </a:solidFill>
                <a:latin typeface="Consolas"/>
              </a:rPr>
              <a:t>YOUR FRACTIONAL DATA ANALYST</a:t>
            </a:r>
          </a:p>
        </p:txBody>
      </p:sp>
      <p:sp>
        <p:nvSpPr>
          <p:cNvPr id="7" name="TextBox 6"/>
          <p:cNvSpPr txBox="1"/>
          <p:nvPr/>
        </p:nvSpPr>
        <p:spPr>
          <a:xfrm>
            <a:off x="530352" y="2286000"/>
            <a:ext cx="6949440" cy="1828800"/>
          </a:xfrm>
          <a:prstGeom prst="rect">
            <a:avLst/>
          </a:prstGeom>
          <a:noFill/>
        </p:spPr>
        <p:txBody>
          <a:bodyPr wrap="square" anchor="t" lIns="0" rIns="0" tIns="0" bIns="0">
            <a:spAutoFit/>
          </a:bodyPr>
          <a:lstStyle/>
          <a:p>
            <a:pPr algn="l">
              <a:lnSpc>
                <a:spcPct val="100000"/>
              </a:lnSpc>
              <a:spcBef>
                <a:spcPts val="0"/>
              </a:spcBef>
              <a:spcAft>
                <a:spcPts val="0"/>
              </a:spcAft>
            </a:pPr>
            <a:r>
              <a:rPr sz="5200" b="1" i="0">
                <a:solidFill>
                  <a:srgbClr val="E7EBF2"/>
                </a:solidFill>
                <a:latin typeface="Calibri"/>
              </a:rPr>
              <a:t>Your numbers,</a:t>
            </a:r>
          </a:p>
          <a:p>
            <a:pPr algn="l">
              <a:lnSpc>
                <a:spcPct val="100000"/>
              </a:lnSpc>
              <a:spcBef>
                <a:spcPts val="0"/>
              </a:spcBef>
              <a:spcAft>
                <a:spcPts val="0"/>
              </a:spcAft>
            </a:pPr>
            <a:r>
              <a:rPr sz="5200" b="1" i="0">
                <a:solidFill>
                  <a:srgbClr val="E7EBF2"/>
                </a:solidFill>
                <a:latin typeface="Calibri"/>
              </a:rPr>
              <a:t>finally working for you.</a:t>
            </a:r>
          </a:p>
        </p:txBody>
      </p:sp>
      <p:sp>
        <p:nvSpPr>
          <p:cNvPr id="8" name="TextBox 7"/>
          <p:cNvSpPr txBox="1"/>
          <p:nvPr/>
        </p:nvSpPr>
        <p:spPr>
          <a:xfrm>
            <a:off x="548640" y="4297680"/>
            <a:ext cx="6309360" cy="1188720"/>
          </a:xfrm>
          <a:prstGeom prst="rect">
            <a:avLst/>
          </a:prstGeom>
          <a:noFill/>
        </p:spPr>
        <p:txBody>
          <a:bodyPr wrap="square" anchor="t" lIns="0" rIns="0" tIns="0" bIns="0">
            <a:spAutoFit/>
          </a:bodyPr>
          <a:lstStyle/>
          <a:p>
            <a:pPr algn="l">
              <a:lnSpc>
                <a:spcPct val="112000"/>
              </a:lnSpc>
              <a:spcBef>
                <a:spcPts val="0"/>
              </a:spcBef>
              <a:spcAft>
                <a:spcPts val="0"/>
              </a:spcAft>
            </a:pPr>
            <a:r>
              <a:rPr sz="1650" b="0" i="0">
                <a:solidFill>
                  <a:srgbClr val="9AA3B5"/>
                </a:solidFill>
                <a:latin typeface="Calibri"/>
              </a:rPr>
              <a:t>Clear answers from your own data — and reports you can act on — for a fraction of the cost of a hire. Built for the local businesses that keep a town running.</a:t>
            </a:r>
          </a:p>
        </p:txBody>
      </p:sp>
      <p:sp>
        <p:nvSpPr>
          <p:cNvPr id="9" name="Rounded Rectangle 8"/>
          <p:cNvSpPr/>
          <p:nvPr/>
        </p:nvSpPr>
        <p:spPr>
          <a:xfrm>
            <a:off x="548640" y="5504688"/>
            <a:ext cx="4434840" cy="457200"/>
          </a:xfrm>
          <a:prstGeom prst="roundRect">
            <a:avLst>
              <a:gd name="adj" fmla="val 50000"/>
            </a:avLst>
          </a:prstGeom>
          <a:solidFill>
            <a:srgbClr val="1B2233"/>
          </a:solidFill>
          <a:ln w="15875">
            <a:solidFill>
              <a:srgbClr val="27C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504688"/>
            <a:ext cx="4434840" cy="457200"/>
          </a:xfrm>
          <a:prstGeom prst="rect">
            <a:avLst/>
          </a:prstGeom>
          <a:noFill/>
        </p:spPr>
        <p:txBody>
          <a:bodyPr wrap="square" anchor="ctr" lIns="0" rIns="0" tIns="0" bIns="0">
            <a:spAutoFit/>
          </a:bodyPr>
          <a:lstStyle/>
          <a:p>
            <a:pPr algn="ctr">
              <a:lnSpc>
                <a:spcPct val="100000"/>
              </a:lnSpc>
              <a:spcBef>
                <a:spcPts val="0"/>
              </a:spcBef>
              <a:spcAft>
                <a:spcPts val="0"/>
              </a:spcAft>
            </a:pPr>
            <a:r>
              <a:rPr sz="1250" b="1" i="0">
                <a:solidFill>
                  <a:srgbClr val="27C08A"/>
                </a:solidFill>
                <a:latin typeface="Calibri"/>
              </a:rPr>
              <a:t>✓  Your data never leaves your computer</a:t>
            </a:r>
          </a:p>
        </p:txBody>
      </p:sp>
      <p:sp>
        <p:nvSpPr>
          <p:cNvPr id="11" name="TextBox 10"/>
          <p:cNvSpPr txBox="1"/>
          <p:nvPr/>
        </p:nvSpPr>
        <p:spPr>
          <a:xfrm>
            <a:off x="548640" y="6199632"/>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0" i="0">
                <a:solidFill>
                  <a:srgbClr val="6B7484"/>
                </a:solidFill>
                <a:latin typeface="Calibri"/>
              </a:rPr>
              <a:t>Prepared by </a:t>
            </a:r>
            <a:r>
              <a:rPr sz="1250" b="1" i="0">
                <a:solidFill>
                  <a:srgbClr val="8EA4D6"/>
                </a:solidFill>
                <a:latin typeface="Calibri"/>
              </a:rPr>
              <a:t>rhnld.25@gmail.com</a:t>
            </a:r>
          </a:p>
        </p:txBody>
      </p:sp>
      <p:sp>
        <p:nvSpPr>
          <p:cNvPr id="12" name="Rounded Rectangle 11"/>
          <p:cNvSpPr/>
          <p:nvPr/>
        </p:nvSpPr>
        <p:spPr>
          <a:xfrm>
            <a:off x="7818120" y="1965960"/>
            <a:ext cx="3840480" cy="3566160"/>
          </a:xfrm>
          <a:prstGeom prst="roundRect">
            <a:avLst>
              <a:gd name="adj" fmla="val 50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258568"/>
            <a:ext cx="32004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7484"/>
                </a:solidFill>
                <a:latin typeface="Consolas"/>
              </a:rPr>
              <a:t>MONTHLY REVENUE</a:t>
            </a:r>
          </a:p>
        </p:txBody>
      </p:sp>
      <p:sp>
        <p:nvSpPr>
          <p:cNvPr id="14" name="TextBox 13"/>
          <p:cNvSpPr txBox="1"/>
          <p:nvPr/>
        </p:nvSpPr>
        <p:spPr>
          <a:xfrm>
            <a:off x="8138160" y="2532888"/>
            <a:ext cx="3200400" cy="457200"/>
          </a:xfrm>
          <a:prstGeom prst="rect">
            <a:avLst/>
          </a:prstGeom>
          <a:noFill/>
        </p:spPr>
        <p:txBody>
          <a:bodyPr wrap="square" anchor="ctr" lIns="0" rIns="0" tIns="0" bIns="0">
            <a:spAutoFit/>
          </a:bodyPr>
          <a:lstStyle/>
          <a:p>
            <a:pPr algn="l">
              <a:lnSpc>
                <a:spcPct val="100000"/>
              </a:lnSpc>
              <a:spcBef>
                <a:spcPts val="0"/>
              </a:spcBef>
              <a:spcAft>
                <a:spcPts val="0"/>
              </a:spcAft>
            </a:pPr>
            <a:r>
              <a:rPr sz="2500" b="1" i="0">
                <a:solidFill>
                  <a:srgbClr val="E7EBF2"/>
                </a:solidFill>
                <a:latin typeface="Calibri"/>
              </a:rPr>
              <a:t>$48,200  </a:t>
            </a:r>
            <a:r>
              <a:rPr sz="1400" b="1" i="0">
                <a:solidFill>
                  <a:srgbClr val="27C08A"/>
                </a:solidFill>
                <a:latin typeface="Calibri"/>
              </a:rPr>
              <a:t>▲ 18%</a:t>
            </a:r>
          </a:p>
        </p:txBody>
      </p:sp>
      <p:sp>
        <p:nvSpPr>
          <p:cNvPr id="15" name="Rounded Rectangle 14"/>
          <p:cNvSpPr/>
          <p:nvPr/>
        </p:nvSpPr>
        <p:spPr>
          <a:xfrm>
            <a:off x="8183880" y="4206240"/>
            <a:ext cx="384048" cy="822960"/>
          </a:xfrm>
          <a:prstGeom prst="roundRect">
            <a:avLst>
              <a:gd name="adj" fmla="val 18000"/>
            </a:avLst>
          </a:prstGeom>
          <a:solidFill>
            <a:srgbClr val="27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714232" y="3886200"/>
            <a:ext cx="384048" cy="1143000"/>
          </a:xfrm>
          <a:prstGeom prst="roundRect">
            <a:avLst>
              <a:gd name="adj" fmla="val 18000"/>
            </a:avLst>
          </a:prstGeom>
          <a:solidFill>
            <a:srgbClr val="27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44584" y="4069080"/>
            <a:ext cx="384048" cy="960120"/>
          </a:xfrm>
          <a:prstGeom prst="roundRect">
            <a:avLst>
              <a:gd name="adj" fmla="val 18000"/>
            </a:avLst>
          </a:prstGeom>
          <a:solidFill>
            <a:srgbClr val="27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74936" y="3611880"/>
            <a:ext cx="384048" cy="1417320"/>
          </a:xfrm>
          <a:prstGeom prst="roundRect">
            <a:avLst>
              <a:gd name="adj" fmla="val 18000"/>
            </a:avLst>
          </a:prstGeom>
          <a:solidFill>
            <a:srgbClr val="27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305288" y="3794760"/>
            <a:ext cx="384048" cy="1234440"/>
          </a:xfrm>
          <a:prstGeom prst="roundRect">
            <a:avLst>
              <a:gd name="adj" fmla="val 18000"/>
            </a:avLst>
          </a:prstGeom>
          <a:solidFill>
            <a:srgbClr val="27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835640" y="3246120"/>
            <a:ext cx="384048" cy="1783080"/>
          </a:xfrm>
          <a:prstGeom prst="roundRect">
            <a:avLst>
              <a:gd name="adj" fmla="val 1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148072"/>
            <a:ext cx="32004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6B7484"/>
                </a:solidFill>
                <a:latin typeface="Consolas"/>
              </a:rPr>
              <a:t>Jan   Feb   Mar   Apr   May   Jun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23444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THE PROBLEM</a:t>
            </a:r>
          </a:p>
        </p:txBody>
      </p:sp>
      <p:sp>
        <p:nvSpPr>
          <p:cNvPr id="7" name="TextBox 6"/>
          <p:cNvSpPr txBox="1"/>
          <p:nvPr/>
        </p:nvSpPr>
        <p:spPr>
          <a:xfrm>
            <a:off x="530352" y="1572768"/>
            <a:ext cx="10972800" cy="822960"/>
          </a:xfrm>
          <a:prstGeom prst="rect">
            <a:avLst/>
          </a:prstGeom>
          <a:noFill/>
        </p:spPr>
        <p:txBody>
          <a:bodyPr wrap="square" anchor="t" lIns="0" rIns="0" tIns="0" bIns="0">
            <a:spAutoFit/>
          </a:bodyPr>
          <a:lstStyle/>
          <a:p>
            <a:pPr algn="l">
              <a:lnSpc>
                <a:spcPct val="100000"/>
              </a:lnSpc>
              <a:spcBef>
                <a:spcPts val="0"/>
              </a:spcBef>
              <a:spcAft>
                <a:spcPts val="0"/>
              </a:spcAft>
            </a:pPr>
            <a:r>
              <a:rPr sz="3800" b="1" i="0">
                <a:solidFill>
                  <a:srgbClr val="E7EBF2"/>
                </a:solidFill>
                <a:latin typeface="Calibri"/>
              </a:rPr>
              <a:t>Most local businesses are flying blind</a:t>
            </a:r>
          </a:p>
        </p:txBody>
      </p:sp>
      <p:sp>
        <p:nvSpPr>
          <p:cNvPr id="8" name="TextBox 7"/>
          <p:cNvSpPr txBox="1"/>
          <p:nvPr/>
        </p:nvSpPr>
        <p:spPr>
          <a:xfrm>
            <a:off x="548640" y="2395728"/>
            <a:ext cx="105156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9AA3B5"/>
                </a:solidFill>
                <a:latin typeface="Calibri"/>
              </a:rPr>
              <a:t>You already have the data. It's just trapped — and reading it takes time you don't have.</a:t>
            </a:r>
          </a:p>
        </p:txBody>
      </p:sp>
      <p:sp>
        <p:nvSpPr>
          <p:cNvPr id="9" name="Rounded Rectangle 8"/>
          <p:cNvSpPr/>
          <p:nvPr/>
        </p:nvSpPr>
        <p:spPr>
          <a:xfrm>
            <a:off x="548640" y="3063240"/>
            <a:ext cx="5349240"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7" y="3355848"/>
            <a:ext cx="457200" cy="457200"/>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3355848"/>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onsolas"/>
              </a:rPr>
              <a:t>01</a:t>
            </a:r>
          </a:p>
        </p:txBody>
      </p:sp>
      <p:sp>
        <p:nvSpPr>
          <p:cNvPr id="12" name="TextBox 11"/>
          <p:cNvSpPr txBox="1"/>
          <p:nvPr/>
        </p:nvSpPr>
        <p:spPr>
          <a:xfrm>
            <a:off x="1508760" y="3337560"/>
            <a:ext cx="4114800" cy="457200"/>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E7EBF2"/>
                </a:solidFill>
                <a:latin typeface="Calibri"/>
              </a:rPr>
              <a:t>It's scattered</a:t>
            </a:r>
          </a:p>
        </p:txBody>
      </p:sp>
      <p:sp>
        <p:nvSpPr>
          <p:cNvPr id="13" name="TextBox 12"/>
          <p:cNvSpPr txBox="1"/>
          <p:nvPr/>
        </p:nvSpPr>
        <p:spPr>
          <a:xfrm>
            <a:off x="1508760" y="3813048"/>
            <a:ext cx="411480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9AA3B5"/>
                </a:solidFill>
                <a:latin typeface="Calibri"/>
              </a:rPr>
              <a:t>Your POS, bookings, QuickBooks and spreadsheets don't talk to each other.</a:t>
            </a:r>
          </a:p>
        </p:txBody>
      </p:sp>
      <p:sp>
        <p:nvSpPr>
          <p:cNvPr id="14" name="Rounded Rectangle 13"/>
          <p:cNvSpPr/>
          <p:nvPr/>
        </p:nvSpPr>
        <p:spPr>
          <a:xfrm>
            <a:off x="6153912" y="3063240"/>
            <a:ext cx="5349240"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46520" y="3355848"/>
            <a:ext cx="457200" cy="457200"/>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355848"/>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onsolas"/>
              </a:rPr>
              <a:t>02</a:t>
            </a:r>
          </a:p>
        </p:txBody>
      </p:sp>
      <p:sp>
        <p:nvSpPr>
          <p:cNvPr id="17" name="TextBox 16"/>
          <p:cNvSpPr txBox="1"/>
          <p:nvPr/>
        </p:nvSpPr>
        <p:spPr>
          <a:xfrm>
            <a:off x="7114031" y="3337560"/>
            <a:ext cx="4114800" cy="457200"/>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E7EBF2"/>
                </a:solidFill>
                <a:latin typeface="Calibri"/>
              </a:rPr>
              <a:t>There's no time</a:t>
            </a:r>
          </a:p>
        </p:txBody>
      </p:sp>
      <p:sp>
        <p:nvSpPr>
          <p:cNvPr id="18" name="TextBox 17"/>
          <p:cNvSpPr txBox="1"/>
          <p:nvPr/>
        </p:nvSpPr>
        <p:spPr>
          <a:xfrm>
            <a:off x="7114031" y="3813048"/>
            <a:ext cx="411480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9AA3B5"/>
                </a:solidFill>
                <a:latin typeface="Calibri"/>
              </a:rPr>
              <a:t>You're running the business, not building reports at 11pm.</a:t>
            </a:r>
          </a:p>
        </p:txBody>
      </p:sp>
      <p:sp>
        <p:nvSpPr>
          <p:cNvPr id="19" name="Rounded Rectangle 18"/>
          <p:cNvSpPr/>
          <p:nvPr/>
        </p:nvSpPr>
        <p:spPr>
          <a:xfrm>
            <a:off x="548640" y="4800600"/>
            <a:ext cx="5349240"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7" y="5093208"/>
            <a:ext cx="457200" cy="457200"/>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5093208"/>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onsolas"/>
              </a:rPr>
              <a:t>03</a:t>
            </a:r>
          </a:p>
        </p:txBody>
      </p:sp>
      <p:sp>
        <p:nvSpPr>
          <p:cNvPr id="22" name="TextBox 21"/>
          <p:cNvSpPr txBox="1"/>
          <p:nvPr/>
        </p:nvSpPr>
        <p:spPr>
          <a:xfrm>
            <a:off x="1508760" y="5074920"/>
            <a:ext cx="4114800" cy="457200"/>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E7EBF2"/>
                </a:solidFill>
                <a:latin typeface="Calibri"/>
              </a:rPr>
              <a:t>You can't justify a hire</a:t>
            </a:r>
          </a:p>
        </p:txBody>
      </p:sp>
      <p:sp>
        <p:nvSpPr>
          <p:cNvPr id="23" name="TextBox 22"/>
          <p:cNvSpPr txBox="1"/>
          <p:nvPr/>
        </p:nvSpPr>
        <p:spPr>
          <a:xfrm>
            <a:off x="1508760" y="5550408"/>
            <a:ext cx="411480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9AA3B5"/>
                </a:solidFill>
                <a:latin typeface="Calibri"/>
              </a:rPr>
              <a:t>A full-time analyst costs more than a small team can spend.</a:t>
            </a:r>
          </a:p>
        </p:txBody>
      </p:sp>
      <p:sp>
        <p:nvSpPr>
          <p:cNvPr id="24" name="Rounded Rectangle 23"/>
          <p:cNvSpPr/>
          <p:nvPr/>
        </p:nvSpPr>
        <p:spPr>
          <a:xfrm>
            <a:off x="6153912" y="4800600"/>
            <a:ext cx="5349240"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46520" y="5093208"/>
            <a:ext cx="457200" cy="457200"/>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5093208"/>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onsolas"/>
              </a:rPr>
              <a:t>04</a:t>
            </a:r>
          </a:p>
        </p:txBody>
      </p:sp>
      <p:sp>
        <p:nvSpPr>
          <p:cNvPr id="27" name="TextBox 26"/>
          <p:cNvSpPr txBox="1"/>
          <p:nvPr/>
        </p:nvSpPr>
        <p:spPr>
          <a:xfrm>
            <a:off x="7114031" y="5074920"/>
            <a:ext cx="4114800" cy="457200"/>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E7EBF2"/>
                </a:solidFill>
                <a:latin typeface="Calibri"/>
              </a:rPr>
              <a:t>So you guess</a:t>
            </a:r>
          </a:p>
        </p:txBody>
      </p:sp>
      <p:sp>
        <p:nvSpPr>
          <p:cNvPr id="28" name="TextBox 27"/>
          <p:cNvSpPr txBox="1"/>
          <p:nvPr/>
        </p:nvSpPr>
        <p:spPr>
          <a:xfrm>
            <a:off x="7114031" y="5550408"/>
            <a:ext cx="411480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9AA3B5"/>
                </a:solidFill>
                <a:latin typeface="Calibri"/>
              </a:rPr>
              <a:t>Pricing, staffing, marketing — decided on instinct, not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37160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THE COST</a:t>
            </a:r>
          </a:p>
        </p:txBody>
      </p:sp>
      <p:sp>
        <p:nvSpPr>
          <p:cNvPr id="7" name="TextBox 6"/>
          <p:cNvSpPr txBox="1"/>
          <p:nvPr/>
        </p:nvSpPr>
        <p:spPr>
          <a:xfrm>
            <a:off x="530352" y="1719072"/>
            <a:ext cx="11155680" cy="12801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Guessing is the most expensive line</a:t>
            </a:r>
          </a:p>
          <a:p>
            <a:pPr algn="l">
              <a:lnSpc>
                <a:spcPct val="100000"/>
              </a:lnSpc>
              <a:spcBef>
                <a:spcPts val="0"/>
              </a:spcBef>
              <a:spcAft>
                <a:spcPts val="0"/>
              </a:spcAft>
            </a:pPr>
            <a:r>
              <a:rPr sz="3600" b="1" i="0">
                <a:solidFill>
                  <a:srgbClr val="E7EBF2"/>
                </a:solidFill>
                <a:latin typeface="Calibri"/>
              </a:rPr>
              <a:t>item you can't see</a:t>
            </a:r>
          </a:p>
        </p:txBody>
      </p:sp>
      <p:sp>
        <p:nvSpPr>
          <p:cNvPr id="8" name="Rounded Rectangle 7"/>
          <p:cNvSpPr/>
          <p:nvPr/>
        </p:nvSpPr>
        <p:spPr>
          <a:xfrm>
            <a:off x="548640" y="3429000"/>
            <a:ext cx="3566160" cy="1874519"/>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749039"/>
            <a:ext cx="2926080" cy="822960"/>
          </a:xfrm>
          <a:prstGeom prst="rect">
            <a:avLst/>
          </a:prstGeom>
          <a:noFill/>
        </p:spPr>
        <p:txBody>
          <a:bodyPr wrap="square" anchor="ctr" lIns="0" rIns="0" tIns="0" bIns="0">
            <a:spAutoFit/>
          </a:bodyPr>
          <a:lstStyle/>
          <a:p>
            <a:pPr algn="l">
              <a:lnSpc>
                <a:spcPct val="100000"/>
              </a:lnSpc>
              <a:spcBef>
                <a:spcPts val="0"/>
              </a:spcBef>
              <a:spcAft>
                <a:spcPts val="0"/>
              </a:spcAft>
            </a:pPr>
            <a:r>
              <a:rPr sz="4400" b="1" i="0">
                <a:solidFill>
                  <a:srgbClr val="9AA3B5"/>
                </a:solidFill>
                <a:latin typeface="Calibri"/>
              </a:rPr>
              <a:t>$70k–120k</a:t>
            </a:r>
          </a:p>
        </p:txBody>
      </p:sp>
      <p:sp>
        <p:nvSpPr>
          <p:cNvPr id="10" name="TextBox 9"/>
          <p:cNvSpPr txBox="1"/>
          <p:nvPr/>
        </p:nvSpPr>
        <p:spPr>
          <a:xfrm>
            <a:off x="868680" y="4599432"/>
            <a:ext cx="2926080" cy="594360"/>
          </a:xfrm>
          <a:prstGeom prst="rect">
            <a:avLst/>
          </a:prstGeom>
          <a:noFill/>
        </p:spPr>
        <p:txBody>
          <a:bodyPr wrap="square" anchor="t" lIns="0" rIns="0" tIns="0" bIns="0">
            <a:spAutoFit/>
          </a:bodyPr>
          <a:lstStyle/>
          <a:p>
            <a:pPr algn="l">
              <a:lnSpc>
                <a:spcPct val="108000"/>
              </a:lnSpc>
              <a:spcBef>
                <a:spcPts val="0"/>
              </a:spcBef>
              <a:spcAft>
                <a:spcPts val="0"/>
              </a:spcAft>
            </a:pPr>
            <a:r>
              <a:rPr sz="1400" b="0" i="0">
                <a:solidFill>
                  <a:srgbClr val="9AA3B5"/>
                </a:solidFill>
                <a:latin typeface="Calibri"/>
              </a:rPr>
              <a:t>what a full-time data analyst costs per year</a:t>
            </a:r>
          </a:p>
        </p:txBody>
      </p:sp>
      <p:sp>
        <p:nvSpPr>
          <p:cNvPr id="11" name="Rounded Rectangle 10"/>
          <p:cNvSpPr/>
          <p:nvPr/>
        </p:nvSpPr>
        <p:spPr>
          <a:xfrm>
            <a:off x="4434840" y="3429000"/>
            <a:ext cx="3566160" cy="1874519"/>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79" y="3749039"/>
            <a:ext cx="2926080" cy="822960"/>
          </a:xfrm>
          <a:prstGeom prst="rect">
            <a:avLst/>
          </a:prstGeom>
          <a:noFill/>
        </p:spPr>
        <p:txBody>
          <a:bodyPr wrap="square" anchor="ctr" lIns="0" rIns="0" tIns="0" bIns="0">
            <a:spAutoFit/>
          </a:bodyPr>
          <a:lstStyle/>
          <a:p>
            <a:pPr algn="l">
              <a:lnSpc>
                <a:spcPct val="100000"/>
              </a:lnSpc>
              <a:spcBef>
                <a:spcPts val="0"/>
              </a:spcBef>
              <a:spcAft>
                <a:spcPts val="0"/>
              </a:spcAft>
            </a:pPr>
            <a:r>
              <a:rPr sz="4400" b="1" i="0">
                <a:solidFill>
                  <a:srgbClr val="9AA3B5"/>
                </a:solidFill>
                <a:latin typeface="Calibri"/>
              </a:rPr>
              <a:t>0</a:t>
            </a:r>
          </a:p>
        </p:txBody>
      </p:sp>
      <p:sp>
        <p:nvSpPr>
          <p:cNvPr id="13" name="TextBox 12"/>
          <p:cNvSpPr txBox="1"/>
          <p:nvPr/>
        </p:nvSpPr>
        <p:spPr>
          <a:xfrm>
            <a:off x="4754879" y="4599432"/>
            <a:ext cx="2926080" cy="594360"/>
          </a:xfrm>
          <a:prstGeom prst="rect">
            <a:avLst/>
          </a:prstGeom>
          <a:noFill/>
        </p:spPr>
        <p:txBody>
          <a:bodyPr wrap="square" anchor="t" lIns="0" rIns="0" tIns="0" bIns="0">
            <a:spAutoFit/>
          </a:bodyPr>
          <a:lstStyle/>
          <a:p>
            <a:pPr algn="l">
              <a:lnSpc>
                <a:spcPct val="108000"/>
              </a:lnSpc>
              <a:spcBef>
                <a:spcPts val="0"/>
              </a:spcBef>
              <a:spcAft>
                <a:spcPts val="0"/>
              </a:spcAft>
            </a:pPr>
            <a:r>
              <a:rPr sz="1400" b="0" i="0">
                <a:solidFill>
                  <a:srgbClr val="9AA3B5"/>
                </a:solidFill>
                <a:latin typeface="Calibri"/>
              </a:rPr>
              <a:t>analysts most small service businesses can afford</a:t>
            </a:r>
          </a:p>
        </p:txBody>
      </p:sp>
      <p:sp>
        <p:nvSpPr>
          <p:cNvPr id="14" name="Rounded Rectangle 13"/>
          <p:cNvSpPr/>
          <p:nvPr/>
        </p:nvSpPr>
        <p:spPr>
          <a:xfrm>
            <a:off x="8321040" y="3429000"/>
            <a:ext cx="3566160" cy="1874519"/>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3749039"/>
            <a:ext cx="2926080" cy="822960"/>
          </a:xfrm>
          <a:prstGeom prst="rect">
            <a:avLst/>
          </a:prstGeom>
          <a:noFill/>
        </p:spPr>
        <p:txBody>
          <a:bodyPr wrap="square" anchor="ctr" lIns="0" rIns="0" tIns="0" bIns="0">
            <a:spAutoFit/>
          </a:bodyPr>
          <a:lstStyle/>
          <a:p>
            <a:pPr algn="l">
              <a:lnSpc>
                <a:spcPct val="100000"/>
              </a:lnSpc>
              <a:spcBef>
                <a:spcPts val="0"/>
              </a:spcBef>
              <a:spcAft>
                <a:spcPts val="0"/>
              </a:spcAft>
            </a:pPr>
            <a:r>
              <a:rPr sz="4400" b="1" i="0">
                <a:solidFill>
                  <a:srgbClr val="F0A93B"/>
                </a:solidFill>
                <a:latin typeface="Calibri"/>
              </a:rPr>
              <a:t>$1,000s</a:t>
            </a:r>
          </a:p>
        </p:txBody>
      </p:sp>
      <p:sp>
        <p:nvSpPr>
          <p:cNvPr id="16" name="TextBox 15"/>
          <p:cNvSpPr txBox="1"/>
          <p:nvPr/>
        </p:nvSpPr>
        <p:spPr>
          <a:xfrm>
            <a:off x="8641080" y="4599432"/>
            <a:ext cx="2926080" cy="594360"/>
          </a:xfrm>
          <a:prstGeom prst="rect">
            <a:avLst/>
          </a:prstGeom>
          <a:noFill/>
        </p:spPr>
        <p:txBody>
          <a:bodyPr wrap="square" anchor="t" lIns="0" rIns="0" tIns="0" bIns="0">
            <a:spAutoFit/>
          </a:bodyPr>
          <a:lstStyle/>
          <a:p>
            <a:pPr algn="l">
              <a:lnSpc>
                <a:spcPct val="108000"/>
              </a:lnSpc>
              <a:spcBef>
                <a:spcPts val="0"/>
              </a:spcBef>
              <a:spcAft>
                <a:spcPts val="0"/>
              </a:spcAft>
            </a:pPr>
            <a:r>
              <a:rPr sz="1400" b="0" i="0">
                <a:solidFill>
                  <a:srgbClr val="9AA3B5"/>
                </a:solidFill>
                <a:latin typeface="Calibri"/>
              </a:rPr>
              <a:t>in decisions made every month with nothing behind them</a:t>
            </a:r>
          </a:p>
        </p:txBody>
      </p:sp>
      <p:sp>
        <p:nvSpPr>
          <p:cNvPr id="17" name="TextBox 16"/>
          <p:cNvSpPr txBox="1"/>
          <p:nvPr/>
        </p:nvSpPr>
        <p:spPr>
          <a:xfrm>
            <a:off x="548640" y="5806440"/>
            <a:ext cx="109728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E7EBF2"/>
                </a:solidFill>
                <a:latin typeface="Calibri"/>
              </a:rPr>
              <a:t>You don't need a hire. You need the answers a hire would give you — </a:t>
            </a:r>
            <a:r>
              <a:rPr sz="1600" b="1" i="0">
                <a:solidFill>
                  <a:srgbClr val="8EA4D6"/>
                </a:solidFill>
                <a:latin typeface="Calibri"/>
              </a:rPr>
              <a:t>without the salary.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28016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THE SOLUTION</a:t>
            </a:r>
          </a:p>
        </p:txBody>
      </p:sp>
      <p:sp>
        <p:nvSpPr>
          <p:cNvPr id="7" name="TextBox 6"/>
          <p:cNvSpPr txBox="1"/>
          <p:nvPr/>
        </p:nvSpPr>
        <p:spPr>
          <a:xfrm>
            <a:off x="530352" y="1627632"/>
            <a:ext cx="6766560" cy="12801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Meet Quarry — your</a:t>
            </a:r>
          </a:p>
          <a:p>
            <a:pPr algn="l">
              <a:lnSpc>
                <a:spcPct val="100000"/>
              </a:lnSpc>
              <a:spcBef>
                <a:spcPts val="0"/>
              </a:spcBef>
              <a:spcAft>
                <a:spcPts val="0"/>
              </a:spcAft>
            </a:pPr>
            <a:r>
              <a:rPr sz="3600" b="1" i="0">
                <a:solidFill>
                  <a:srgbClr val="E7EBF2"/>
                </a:solidFill>
                <a:latin typeface="Calibri"/>
              </a:rPr>
              <a:t>data analyst, on demand</a:t>
            </a:r>
          </a:p>
        </p:txBody>
      </p:sp>
      <p:sp>
        <p:nvSpPr>
          <p:cNvPr id="8" name="TextBox 7"/>
          <p:cNvSpPr txBox="1"/>
          <p:nvPr/>
        </p:nvSpPr>
        <p:spPr>
          <a:xfrm>
            <a:off x="548640" y="3246120"/>
            <a:ext cx="6035040" cy="1828800"/>
          </a:xfrm>
          <a:prstGeom prst="rect">
            <a:avLst/>
          </a:prstGeom>
          <a:noFill/>
        </p:spPr>
        <p:txBody>
          <a:bodyPr wrap="square" anchor="t" lIns="0" rIns="0" tIns="0" bIns="0">
            <a:spAutoFit/>
          </a:bodyPr>
          <a:lstStyle/>
          <a:p>
            <a:pPr algn="l">
              <a:lnSpc>
                <a:spcPct val="115000"/>
              </a:lnSpc>
              <a:spcBef>
                <a:spcPts val="0"/>
              </a:spcBef>
              <a:spcAft>
                <a:spcPts val="0"/>
              </a:spcAft>
            </a:pPr>
            <a:r>
              <a:rPr sz="1650" b="0" i="0">
                <a:solidFill>
                  <a:srgbClr val="9AA3B5"/>
                </a:solidFill>
                <a:latin typeface="Calibri"/>
              </a:rPr>
              <a:t>I take your raw business data and turn it into plain-English answers and reports you can use. No dashboards to learn. No software to run. You ask a question about your business — you get an answer you can trust.</a:t>
            </a:r>
          </a:p>
        </p:txBody>
      </p:sp>
      <p:sp>
        <p:nvSpPr>
          <p:cNvPr id="9" name="Rounded Rectangle 8"/>
          <p:cNvSpPr/>
          <p:nvPr/>
        </p:nvSpPr>
        <p:spPr>
          <a:xfrm>
            <a:off x="548640" y="5212080"/>
            <a:ext cx="2304288" cy="457200"/>
          </a:xfrm>
          <a:prstGeom prst="roundRect">
            <a:avLst>
              <a:gd name="adj" fmla="val 50000"/>
            </a:avLst>
          </a:prstGeom>
          <a:solidFill>
            <a:srgbClr val="1B2233"/>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212080"/>
            <a:ext cx="2304288" cy="457200"/>
          </a:xfrm>
          <a:prstGeom prst="rect">
            <a:avLst/>
          </a:prstGeom>
          <a:noFill/>
        </p:spPr>
        <p:txBody>
          <a:bodyPr wrap="square" anchor="ctr" lIns="0" rIns="0" tIns="0" bIns="0">
            <a:spAutoFit/>
          </a:bodyPr>
          <a:lstStyle/>
          <a:p>
            <a:pPr algn="ctr">
              <a:lnSpc>
                <a:spcPct val="100000"/>
              </a:lnSpc>
              <a:spcBef>
                <a:spcPts val="0"/>
              </a:spcBef>
              <a:spcAft>
                <a:spcPts val="0"/>
              </a:spcAft>
            </a:pPr>
            <a:r>
              <a:rPr sz="1250" b="1" i="0">
                <a:solidFill>
                  <a:srgbClr val="8EA4D6"/>
                </a:solidFill>
                <a:latin typeface="Calibri"/>
              </a:rPr>
              <a:t>Ask in plain English</a:t>
            </a:r>
          </a:p>
        </p:txBody>
      </p:sp>
      <p:sp>
        <p:nvSpPr>
          <p:cNvPr id="11" name="Rounded Rectangle 10"/>
          <p:cNvSpPr/>
          <p:nvPr/>
        </p:nvSpPr>
        <p:spPr>
          <a:xfrm>
            <a:off x="3054096" y="5212080"/>
            <a:ext cx="1440180" cy="457200"/>
          </a:xfrm>
          <a:prstGeom prst="roundRect">
            <a:avLst>
              <a:gd name="adj" fmla="val 50000"/>
            </a:avLst>
          </a:prstGeom>
          <a:solidFill>
            <a:srgbClr val="1B2233"/>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54096" y="5212080"/>
            <a:ext cx="1440180" cy="457200"/>
          </a:xfrm>
          <a:prstGeom prst="rect">
            <a:avLst/>
          </a:prstGeom>
          <a:noFill/>
        </p:spPr>
        <p:txBody>
          <a:bodyPr wrap="square" anchor="ctr" lIns="0" rIns="0" tIns="0" bIns="0">
            <a:spAutoFit/>
          </a:bodyPr>
          <a:lstStyle/>
          <a:p>
            <a:pPr algn="ctr">
              <a:lnSpc>
                <a:spcPct val="100000"/>
              </a:lnSpc>
              <a:spcBef>
                <a:spcPts val="0"/>
              </a:spcBef>
              <a:spcAft>
                <a:spcPts val="0"/>
              </a:spcAft>
            </a:pPr>
            <a:r>
              <a:rPr sz="1250" b="1" i="0">
                <a:solidFill>
                  <a:srgbClr val="8EA4D6"/>
                </a:solidFill>
                <a:latin typeface="Calibri"/>
              </a:rPr>
              <a:t>Real charts</a:t>
            </a:r>
          </a:p>
        </p:txBody>
      </p:sp>
      <p:sp>
        <p:nvSpPr>
          <p:cNvPr id="13" name="Rounded Rectangle 12"/>
          <p:cNvSpPr/>
          <p:nvPr/>
        </p:nvSpPr>
        <p:spPr>
          <a:xfrm>
            <a:off x="548640" y="5815584"/>
            <a:ext cx="2976372" cy="457200"/>
          </a:xfrm>
          <a:prstGeom prst="roundRect">
            <a:avLst>
              <a:gd name="adj" fmla="val 50000"/>
            </a:avLst>
          </a:prstGeom>
          <a:solidFill>
            <a:srgbClr val="1B2233"/>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815584"/>
            <a:ext cx="2976372" cy="457200"/>
          </a:xfrm>
          <a:prstGeom prst="rect">
            <a:avLst/>
          </a:prstGeom>
          <a:noFill/>
        </p:spPr>
        <p:txBody>
          <a:bodyPr wrap="square" anchor="ctr" lIns="0" rIns="0" tIns="0" bIns="0">
            <a:spAutoFit/>
          </a:bodyPr>
          <a:lstStyle/>
          <a:p>
            <a:pPr algn="ctr">
              <a:lnSpc>
                <a:spcPct val="100000"/>
              </a:lnSpc>
              <a:spcBef>
                <a:spcPts val="0"/>
              </a:spcBef>
              <a:spcAft>
                <a:spcPts val="0"/>
              </a:spcAft>
            </a:pPr>
            <a:r>
              <a:rPr sz="1250" b="1" i="0">
                <a:solidFill>
                  <a:srgbClr val="8EA4D6"/>
                </a:solidFill>
                <a:latin typeface="Calibri"/>
              </a:rPr>
              <a:t>Export to PowerPoint &amp; Word</a:t>
            </a:r>
          </a:p>
        </p:txBody>
      </p:sp>
      <p:sp>
        <p:nvSpPr>
          <p:cNvPr id="15" name="Rounded Rectangle 14"/>
          <p:cNvSpPr/>
          <p:nvPr/>
        </p:nvSpPr>
        <p:spPr>
          <a:xfrm>
            <a:off x="7360920" y="1600200"/>
            <a:ext cx="4297680" cy="4160520"/>
          </a:xfrm>
          <a:prstGeom prst="roundRect">
            <a:avLst>
              <a:gd name="adj" fmla="val 4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95360" y="1965960"/>
            <a:ext cx="2743200" cy="566928"/>
          </a:xfrm>
          <a:prstGeom prst="roundRect">
            <a:avLst>
              <a:gd name="adj" fmla="val 3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20" y="1965960"/>
            <a:ext cx="2468880" cy="566928"/>
          </a:xfrm>
          <a:prstGeom prst="rect">
            <a:avLst/>
          </a:prstGeom>
          <a:noFill/>
        </p:spPr>
        <p:txBody>
          <a:bodyPr wrap="square" anchor="ctr" lIns="0" rIns="0" tIns="0" bIns="0">
            <a:spAutoFit/>
          </a:bodyPr>
          <a:lstStyle/>
          <a:p>
            <a:pPr algn="l">
              <a:lnSpc>
                <a:spcPct val="100000"/>
              </a:lnSpc>
              <a:spcBef>
                <a:spcPts val="0"/>
              </a:spcBef>
              <a:spcAft>
                <a:spcPts val="0"/>
              </a:spcAft>
            </a:pPr>
            <a:r>
              <a:rPr sz="1150" b="0" i="0">
                <a:solidFill>
                  <a:srgbClr val="FFFFFF"/>
                </a:solidFill>
                <a:latin typeface="Calibri"/>
              </a:rPr>
              <a:t>Which services make us the most money?</a:t>
            </a:r>
          </a:p>
        </p:txBody>
      </p:sp>
      <p:sp>
        <p:nvSpPr>
          <p:cNvPr id="18" name="Rounded Rectangle 17"/>
          <p:cNvSpPr/>
          <p:nvPr/>
        </p:nvSpPr>
        <p:spPr>
          <a:xfrm>
            <a:off x="7680960" y="2743200"/>
            <a:ext cx="3017520" cy="841248"/>
          </a:xfrm>
          <a:prstGeom prst="roundRect">
            <a:avLst>
              <a:gd name="adj" fmla="val 18000"/>
            </a:avLst>
          </a:prstGeom>
          <a:solidFill>
            <a:srgbClr val="1B2233"/>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2743200"/>
            <a:ext cx="2697480" cy="841248"/>
          </a:xfrm>
          <a:prstGeom prst="rect">
            <a:avLst/>
          </a:prstGeom>
          <a:noFill/>
        </p:spPr>
        <p:txBody>
          <a:bodyPr wrap="square" anchor="ctr" lIns="0" rIns="0" tIns="0" bIns="0">
            <a:spAutoFit/>
          </a:bodyPr>
          <a:lstStyle/>
          <a:p>
            <a:pPr algn="l">
              <a:lnSpc>
                <a:spcPct val="105000"/>
              </a:lnSpc>
              <a:spcBef>
                <a:spcPts val="0"/>
              </a:spcBef>
              <a:spcAft>
                <a:spcPts val="0"/>
              </a:spcAft>
            </a:pPr>
            <a:r>
              <a:rPr sz="1150" b="0" i="0">
                <a:solidFill>
                  <a:srgbClr val="E7EBF2"/>
                </a:solidFill>
                <a:latin typeface="Calibri"/>
              </a:rPr>
              <a:t>Physio and massage drive 61% of profit. Group classes are busy but barely break even.</a:t>
            </a:r>
          </a:p>
        </p:txBody>
      </p:sp>
      <p:sp>
        <p:nvSpPr>
          <p:cNvPr id="20" name="TextBox 19"/>
          <p:cNvSpPr txBox="1"/>
          <p:nvPr/>
        </p:nvSpPr>
        <p:spPr>
          <a:xfrm>
            <a:off x="7726680" y="3931920"/>
            <a:ext cx="3566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a:solidFill>
                  <a:srgbClr val="6B7484"/>
                </a:solidFill>
                <a:latin typeface="Consolas"/>
              </a:rPr>
              <a:t>PROFIT BY SERVICE</a:t>
            </a:r>
          </a:p>
        </p:txBody>
      </p:sp>
      <p:sp>
        <p:nvSpPr>
          <p:cNvPr id="21" name="Rounded Rectangle 20"/>
          <p:cNvSpPr/>
          <p:nvPr/>
        </p:nvSpPr>
        <p:spPr>
          <a:xfrm>
            <a:off x="8778240" y="4315968"/>
            <a:ext cx="1371600" cy="237744"/>
          </a:xfrm>
          <a:prstGeom prst="roundRect">
            <a:avLst>
              <a:gd name="adj" fmla="val 4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6680" y="4288536"/>
            <a:ext cx="1005840" cy="29260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AA3B5"/>
                </a:solidFill>
                <a:latin typeface="Calibri"/>
              </a:rPr>
              <a:t>Physio</a:t>
            </a:r>
          </a:p>
        </p:txBody>
      </p:sp>
      <p:sp>
        <p:nvSpPr>
          <p:cNvPr id="23" name="Rounded Rectangle 22"/>
          <p:cNvSpPr/>
          <p:nvPr/>
        </p:nvSpPr>
        <p:spPr>
          <a:xfrm>
            <a:off x="8778240" y="4700016"/>
            <a:ext cx="1051560" cy="237744"/>
          </a:xfrm>
          <a:prstGeom prst="roundRect">
            <a:avLst>
              <a:gd name="adj" fmla="val 4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80" y="4672583"/>
            <a:ext cx="1005840" cy="29260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AA3B5"/>
                </a:solidFill>
                <a:latin typeface="Calibri"/>
              </a:rPr>
              <a:t>Massage</a:t>
            </a:r>
          </a:p>
        </p:txBody>
      </p:sp>
      <p:sp>
        <p:nvSpPr>
          <p:cNvPr id="25" name="Rounded Rectangle 24"/>
          <p:cNvSpPr/>
          <p:nvPr/>
        </p:nvSpPr>
        <p:spPr>
          <a:xfrm>
            <a:off x="8778240" y="5084064"/>
            <a:ext cx="502920" cy="237744"/>
          </a:xfrm>
          <a:prstGeom prst="roundRect">
            <a:avLst>
              <a:gd name="adj" fmla="val 4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80" y="5056631"/>
            <a:ext cx="1005840" cy="29260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AA3B5"/>
                </a:solidFill>
                <a:latin typeface="Calibri"/>
              </a:rPr>
              <a:t>Classes</a:t>
            </a:r>
          </a:p>
        </p:txBody>
      </p:sp>
      <p:sp>
        <p:nvSpPr>
          <p:cNvPr id="27" name="Rounded Rectangle 26"/>
          <p:cNvSpPr/>
          <p:nvPr/>
        </p:nvSpPr>
        <p:spPr>
          <a:xfrm>
            <a:off x="8778240" y="5468112"/>
            <a:ext cx="320040" cy="237744"/>
          </a:xfrm>
          <a:prstGeom prst="roundRect">
            <a:avLst>
              <a:gd name="adj" fmla="val 4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26680" y="5440679"/>
            <a:ext cx="1005840" cy="29260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AA3B5"/>
                </a:solidFill>
                <a:latin typeface="Calibri"/>
              </a:rPr>
              <a:t>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37160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HOW IT WORKS</a:t>
            </a:r>
          </a:p>
        </p:txBody>
      </p:sp>
      <p:sp>
        <p:nvSpPr>
          <p:cNvPr id="7" name="TextBox 6"/>
          <p:cNvSpPr txBox="1"/>
          <p:nvPr/>
        </p:nvSpPr>
        <p:spPr>
          <a:xfrm>
            <a:off x="530352" y="1719072"/>
            <a:ext cx="10972800" cy="8229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Three steps. That's the whole thing.</a:t>
            </a:r>
          </a:p>
        </p:txBody>
      </p:sp>
      <p:sp>
        <p:nvSpPr>
          <p:cNvPr id="8" name="Rounded Rectangle 7"/>
          <p:cNvSpPr/>
          <p:nvPr/>
        </p:nvSpPr>
        <p:spPr>
          <a:xfrm>
            <a:off x="548640" y="3063240"/>
            <a:ext cx="3456432" cy="25146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3429000"/>
            <a:ext cx="566928" cy="566928"/>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2900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FFFFFF"/>
                </a:solidFill>
                <a:latin typeface="Consolas"/>
              </a:rPr>
              <a:t>01</a:t>
            </a:r>
          </a:p>
        </p:txBody>
      </p:sp>
      <p:sp>
        <p:nvSpPr>
          <p:cNvPr id="11" name="TextBox 10"/>
          <p:cNvSpPr txBox="1"/>
          <p:nvPr/>
        </p:nvSpPr>
        <p:spPr>
          <a:xfrm>
            <a:off x="868680" y="4206240"/>
            <a:ext cx="2816352" cy="50292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E7EBF2"/>
                </a:solidFill>
                <a:latin typeface="Calibri"/>
              </a:rPr>
              <a:t>Send me your data</a:t>
            </a:r>
          </a:p>
        </p:txBody>
      </p:sp>
      <p:sp>
        <p:nvSpPr>
          <p:cNvPr id="12" name="TextBox 11"/>
          <p:cNvSpPr txBox="1"/>
          <p:nvPr/>
        </p:nvSpPr>
        <p:spPr>
          <a:xfrm>
            <a:off x="868680" y="4727448"/>
            <a:ext cx="2816352" cy="777240"/>
          </a:xfrm>
          <a:prstGeom prst="rect">
            <a:avLst/>
          </a:prstGeom>
          <a:noFill/>
        </p:spPr>
        <p:txBody>
          <a:bodyPr wrap="square" anchor="t" lIns="0" rIns="0" tIns="0" bIns="0">
            <a:spAutoFit/>
          </a:bodyPr>
          <a:lstStyle/>
          <a:p>
            <a:pPr algn="l">
              <a:lnSpc>
                <a:spcPct val="112000"/>
              </a:lnSpc>
              <a:spcBef>
                <a:spcPts val="0"/>
              </a:spcBef>
              <a:spcAft>
                <a:spcPts val="0"/>
              </a:spcAft>
            </a:pPr>
            <a:r>
              <a:rPr sz="1350" b="0" i="0">
                <a:solidFill>
                  <a:srgbClr val="9AA3B5"/>
                </a:solidFill>
                <a:latin typeface="Calibri"/>
              </a:rPr>
              <a:t>A CSV export, a booking report, a QuickBooks file — whatever you've got.</a:t>
            </a:r>
          </a:p>
        </p:txBody>
      </p:sp>
      <p:sp>
        <p:nvSpPr>
          <p:cNvPr id="13" name="TextBox 12"/>
          <p:cNvSpPr txBox="1"/>
          <p:nvPr/>
        </p:nvSpPr>
        <p:spPr>
          <a:xfrm>
            <a:off x="4023359" y="4023360"/>
            <a:ext cx="420624" cy="548640"/>
          </a:xfrm>
          <a:prstGeom prst="rect">
            <a:avLst/>
          </a:prstGeom>
          <a:noFill/>
        </p:spPr>
        <p:txBody>
          <a:bodyPr wrap="square" anchor="ctr" lIns="0" rIns="0" tIns="0" bIns="0">
            <a:spAutoFit/>
          </a:bodyPr>
          <a:lstStyle/>
          <a:p>
            <a:pPr algn="ctr">
              <a:lnSpc>
                <a:spcPct val="100000"/>
              </a:lnSpc>
              <a:spcBef>
                <a:spcPts val="0"/>
              </a:spcBef>
              <a:spcAft>
                <a:spcPts val="0"/>
              </a:spcAft>
            </a:pPr>
            <a:r>
              <a:rPr sz="2600" b="1" i="0">
                <a:solidFill>
                  <a:srgbClr val="6B7484"/>
                </a:solidFill>
                <a:latin typeface="Calibri"/>
              </a:rPr>
              <a:t>→</a:t>
            </a:r>
          </a:p>
        </p:txBody>
      </p:sp>
      <p:sp>
        <p:nvSpPr>
          <p:cNvPr id="14" name="Rounded Rectangle 13"/>
          <p:cNvSpPr/>
          <p:nvPr/>
        </p:nvSpPr>
        <p:spPr>
          <a:xfrm>
            <a:off x="4462271" y="3063240"/>
            <a:ext cx="3456432" cy="25146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82311" y="3429000"/>
            <a:ext cx="566928" cy="566928"/>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82311" y="342900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FFFFFF"/>
                </a:solidFill>
                <a:latin typeface="Consolas"/>
              </a:rPr>
              <a:t>02</a:t>
            </a:r>
          </a:p>
        </p:txBody>
      </p:sp>
      <p:sp>
        <p:nvSpPr>
          <p:cNvPr id="17" name="TextBox 16"/>
          <p:cNvSpPr txBox="1"/>
          <p:nvPr/>
        </p:nvSpPr>
        <p:spPr>
          <a:xfrm>
            <a:off x="4782311" y="4206240"/>
            <a:ext cx="2816352" cy="50292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E7EBF2"/>
                </a:solidFill>
                <a:latin typeface="Calibri"/>
              </a:rPr>
              <a:t>I dig into it</a:t>
            </a:r>
          </a:p>
        </p:txBody>
      </p:sp>
      <p:sp>
        <p:nvSpPr>
          <p:cNvPr id="18" name="TextBox 17"/>
          <p:cNvSpPr txBox="1"/>
          <p:nvPr/>
        </p:nvSpPr>
        <p:spPr>
          <a:xfrm>
            <a:off x="4782311" y="4727448"/>
            <a:ext cx="2816352" cy="777240"/>
          </a:xfrm>
          <a:prstGeom prst="rect">
            <a:avLst/>
          </a:prstGeom>
          <a:noFill/>
        </p:spPr>
        <p:txBody>
          <a:bodyPr wrap="square" anchor="t" lIns="0" rIns="0" tIns="0" bIns="0">
            <a:spAutoFit/>
          </a:bodyPr>
          <a:lstStyle/>
          <a:p>
            <a:pPr algn="l">
              <a:lnSpc>
                <a:spcPct val="112000"/>
              </a:lnSpc>
              <a:spcBef>
                <a:spcPts val="0"/>
              </a:spcBef>
              <a:spcAft>
                <a:spcPts val="0"/>
              </a:spcAft>
            </a:pPr>
            <a:r>
              <a:rPr sz="1350" b="0" i="0">
                <a:solidFill>
                  <a:srgbClr val="9AA3B5"/>
                </a:solidFill>
                <a:latin typeface="Calibri"/>
              </a:rPr>
              <a:t>I find what actually matters for the decisions in front of you.</a:t>
            </a:r>
          </a:p>
        </p:txBody>
      </p:sp>
      <p:sp>
        <p:nvSpPr>
          <p:cNvPr id="19" name="TextBox 18"/>
          <p:cNvSpPr txBox="1"/>
          <p:nvPr/>
        </p:nvSpPr>
        <p:spPr>
          <a:xfrm>
            <a:off x="7936991" y="4023360"/>
            <a:ext cx="420624" cy="548640"/>
          </a:xfrm>
          <a:prstGeom prst="rect">
            <a:avLst/>
          </a:prstGeom>
          <a:noFill/>
        </p:spPr>
        <p:txBody>
          <a:bodyPr wrap="square" anchor="ctr" lIns="0" rIns="0" tIns="0" bIns="0">
            <a:spAutoFit/>
          </a:bodyPr>
          <a:lstStyle/>
          <a:p>
            <a:pPr algn="ctr">
              <a:lnSpc>
                <a:spcPct val="100000"/>
              </a:lnSpc>
              <a:spcBef>
                <a:spcPts val="0"/>
              </a:spcBef>
              <a:spcAft>
                <a:spcPts val="0"/>
              </a:spcAft>
            </a:pPr>
            <a:r>
              <a:rPr sz="2600" b="1" i="0">
                <a:solidFill>
                  <a:srgbClr val="6B7484"/>
                </a:solidFill>
                <a:latin typeface="Calibri"/>
              </a:rPr>
              <a:t>→</a:t>
            </a:r>
          </a:p>
        </p:txBody>
      </p:sp>
      <p:sp>
        <p:nvSpPr>
          <p:cNvPr id="20" name="Rounded Rectangle 19"/>
          <p:cNvSpPr/>
          <p:nvPr/>
        </p:nvSpPr>
        <p:spPr>
          <a:xfrm>
            <a:off x="8375903" y="3063240"/>
            <a:ext cx="3456432" cy="25146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95943" y="3429000"/>
            <a:ext cx="566928" cy="566928"/>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95943" y="342900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FFFFFF"/>
                </a:solidFill>
                <a:latin typeface="Consolas"/>
              </a:rPr>
              <a:t>03</a:t>
            </a:r>
          </a:p>
        </p:txBody>
      </p:sp>
      <p:sp>
        <p:nvSpPr>
          <p:cNvPr id="23" name="TextBox 22"/>
          <p:cNvSpPr txBox="1"/>
          <p:nvPr/>
        </p:nvSpPr>
        <p:spPr>
          <a:xfrm>
            <a:off x="8695943" y="4206240"/>
            <a:ext cx="2816352" cy="50292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E7EBF2"/>
                </a:solidFill>
                <a:latin typeface="Calibri"/>
              </a:rPr>
              <a:t>You get answers</a:t>
            </a:r>
          </a:p>
        </p:txBody>
      </p:sp>
      <p:sp>
        <p:nvSpPr>
          <p:cNvPr id="24" name="TextBox 23"/>
          <p:cNvSpPr txBox="1"/>
          <p:nvPr/>
        </p:nvSpPr>
        <p:spPr>
          <a:xfrm>
            <a:off x="8695943" y="4727448"/>
            <a:ext cx="2816352" cy="777240"/>
          </a:xfrm>
          <a:prstGeom prst="rect">
            <a:avLst/>
          </a:prstGeom>
          <a:noFill/>
        </p:spPr>
        <p:txBody>
          <a:bodyPr wrap="square" anchor="t" lIns="0" rIns="0" tIns="0" bIns="0">
            <a:spAutoFit/>
          </a:bodyPr>
          <a:lstStyle/>
          <a:p>
            <a:pPr algn="l">
              <a:lnSpc>
                <a:spcPct val="112000"/>
              </a:lnSpc>
              <a:spcBef>
                <a:spcPts val="0"/>
              </a:spcBef>
              <a:spcAft>
                <a:spcPts val="0"/>
              </a:spcAft>
            </a:pPr>
            <a:r>
              <a:rPr sz="1350" b="0" i="0">
                <a:solidFill>
                  <a:srgbClr val="9AA3B5"/>
                </a:solidFill>
                <a:latin typeface="Calibri"/>
              </a:rPr>
              <a:t>A clean report — charts, numbers, plain-English takeaways — ready to act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28016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WHY YOU CAN TRUST IT</a:t>
            </a:r>
          </a:p>
        </p:txBody>
      </p:sp>
      <p:sp>
        <p:nvSpPr>
          <p:cNvPr id="7" name="TextBox 6"/>
          <p:cNvSpPr txBox="1"/>
          <p:nvPr/>
        </p:nvSpPr>
        <p:spPr>
          <a:xfrm>
            <a:off x="530352" y="1627632"/>
            <a:ext cx="6949440" cy="12801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Every number, fully</a:t>
            </a:r>
          </a:p>
          <a:p>
            <a:pPr algn="l">
              <a:lnSpc>
                <a:spcPct val="100000"/>
              </a:lnSpc>
              <a:spcBef>
                <a:spcPts val="0"/>
              </a:spcBef>
              <a:spcAft>
                <a:spcPts val="0"/>
              </a:spcAft>
            </a:pPr>
            <a:r>
              <a:rPr sz="3600" b="1" i="0">
                <a:solidFill>
                  <a:srgbClr val="E7EBF2"/>
                </a:solidFill>
                <a:latin typeface="Calibri"/>
              </a:rPr>
              <a:t>shown — no black box</a:t>
            </a:r>
          </a:p>
        </p:txBody>
      </p:sp>
      <p:sp>
        <p:nvSpPr>
          <p:cNvPr id="8" name="TextBox 7"/>
          <p:cNvSpPr txBox="1"/>
          <p:nvPr/>
        </p:nvSpPr>
        <p:spPr>
          <a:xfrm>
            <a:off x="548640" y="3246120"/>
            <a:ext cx="6126480" cy="2011680"/>
          </a:xfrm>
          <a:prstGeom prst="rect">
            <a:avLst/>
          </a:prstGeom>
          <a:noFill/>
        </p:spPr>
        <p:txBody>
          <a:bodyPr wrap="square" anchor="t" lIns="0" rIns="0" tIns="0" bIns="0">
            <a:spAutoFit/>
          </a:bodyPr>
          <a:lstStyle/>
          <a:p>
            <a:pPr algn="l">
              <a:lnSpc>
                <a:spcPct val="115000"/>
              </a:lnSpc>
              <a:spcBef>
                <a:spcPts val="0"/>
              </a:spcBef>
              <a:spcAft>
                <a:spcPts val="0"/>
              </a:spcAft>
            </a:pPr>
            <a:r>
              <a:rPr sz="1650" b="0" i="0">
                <a:solidFill>
                  <a:srgbClr val="9AA3B5"/>
                </a:solidFill>
                <a:latin typeface="Calibri"/>
              </a:rPr>
              <a:t>Most “AI insights” ask you to just trust the answer. I don't. Behind every figure you can see the exact rows it came from and the exact calculation used. When there's real money on the line, you should be able to check the math yourself.</a:t>
            </a:r>
          </a:p>
        </p:txBody>
      </p:sp>
      <p:sp>
        <p:nvSpPr>
          <p:cNvPr id="9" name="Rounded Rectangle 8"/>
          <p:cNvSpPr/>
          <p:nvPr/>
        </p:nvSpPr>
        <p:spPr>
          <a:xfrm>
            <a:off x="548640" y="5440680"/>
            <a:ext cx="3017520" cy="502920"/>
          </a:xfrm>
          <a:prstGeom prst="roundRect">
            <a:avLst>
              <a:gd name="adj" fmla="val 50000"/>
            </a:avLst>
          </a:prstGeom>
          <a:solidFill>
            <a:srgbClr val="1B2233"/>
          </a:solidFill>
          <a:ln w="15875">
            <a:solidFill>
              <a:srgbClr val="27C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440680"/>
            <a:ext cx="3017520" cy="502920"/>
          </a:xfrm>
          <a:prstGeom prst="rect">
            <a:avLst/>
          </a:prstGeom>
          <a:noFill/>
        </p:spPr>
        <p:txBody>
          <a:bodyPr wrap="square" anchor="ctr" lIns="0" rIns="0" tIns="0" bIns="0">
            <a:spAutoFit/>
          </a:bodyPr>
          <a:lstStyle/>
          <a:p>
            <a:pPr algn="ctr">
              <a:lnSpc>
                <a:spcPct val="100000"/>
              </a:lnSpc>
              <a:spcBef>
                <a:spcPts val="0"/>
              </a:spcBef>
              <a:spcAft>
                <a:spcPts val="0"/>
              </a:spcAft>
            </a:pPr>
            <a:r>
              <a:rPr sz="1350" b="1" i="0">
                <a:solidFill>
                  <a:srgbClr val="27C08A"/>
                </a:solidFill>
                <a:latin typeface="Calibri"/>
              </a:rPr>
              <a:t>✓  “Show me the math.”</a:t>
            </a:r>
          </a:p>
        </p:txBody>
      </p:sp>
      <p:sp>
        <p:nvSpPr>
          <p:cNvPr id="11" name="Rounded Rectangle 10"/>
          <p:cNvSpPr/>
          <p:nvPr/>
        </p:nvSpPr>
        <p:spPr>
          <a:xfrm>
            <a:off x="7360920" y="1600200"/>
            <a:ext cx="4297680" cy="4206240"/>
          </a:xfrm>
          <a:prstGeom prst="roundRect">
            <a:avLst>
              <a:gd name="adj" fmla="val 4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80" y="1892807"/>
            <a:ext cx="3566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a:solidFill>
                  <a:srgbClr val="6B7484"/>
                </a:solidFill>
                <a:latin typeface="Consolas"/>
              </a:rPr>
              <a:t>SOURCE ROWS</a:t>
            </a:r>
          </a:p>
        </p:txBody>
      </p:sp>
      <p:sp>
        <p:nvSpPr>
          <p:cNvPr id="13" name="Rectangle 12"/>
          <p:cNvSpPr/>
          <p:nvPr/>
        </p:nvSpPr>
        <p:spPr>
          <a:xfrm>
            <a:off x="7726680" y="2203704"/>
            <a:ext cx="3566160" cy="310896"/>
          </a:xfrm>
          <a:prstGeom prst="rect">
            <a:avLst/>
          </a:prstGeom>
          <a:solidFill>
            <a:srgbClr val="1B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203704"/>
            <a:ext cx="3383280" cy="310896"/>
          </a:xfrm>
          <a:prstGeom prst="rect">
            <a:avLst/>
          </a:prstGeom>
          <a:noFill/>
        </p:spPr>
        <p:txBody>
          <a:bodyPr wrap="square" anchor="ctr" lIns="0" rIns="0" tIns="0" bIns="0">
            <a:spAutoFit/>
          </a:bodyPr>
          <a:lstStyle/>
          <a:p>
            <a:pPr algn="l">
              <a:lnSpc>
                <a:spcPct val="100000"/>
              </a:lnSpc>
              <a:spcBef>
                <a:spcPts val="0"/>
              </a:spcBef>
              <a:spcAft>
                <a:spcPts val="0"/>
              </a:spcAft>
            </a:pPr>
            <a:r>
              <a:rPr sz="1000" b="0" i="0">
                <a:solidFill>
                  <a:srgbClr val="9AA3B5"/>
                </a:solidFill>
                <a:latin typeface="Consolas"/>
              </a:rPr>
              <a:t>order      service      amount</a:t>
            </a:r>
          </a:p>
        </p:txBody>
      </p:sp>
      <p:sp>
        <p:nvSpPr>
          <p:cNvPr id="15" name="TextBox 14"/>
          <p:cNvSpPr txBox="1"/>
          <p:nvPr/>
        </p:nvSpPr>
        <p:spPr>
          <a:xfrm>
            <a:off x="7863840" y="2514600"/>
            <a:ext cx="3383280" cy="292608"/>
          </a:xfrm>
          <a:prstGeom prst="rect">
            <a:avLst/>
          </a:prstGeom>
          <a:noFill/>
        </p:spPr>
        <p:txBody>
          <a:bodyPr wrap="square" anchor="ctr" lIns="0" rIns="0" tIns="0" bIns="0">
            <a:spAutoFit/>
          </a:bodyPr>
          <a:lstStyle/>
          <a:p>
            <a:pPr algn="l">
              <a:lnSpc>
                <a:spcPct val="100000"/>
              </a:lnSpc>
              <a:spcBef>
                <a:spcPts val="0"/>
              </a:spcBef>
              <a:spcAft>
                <a:spcPts val="0"/>
              </a:spcAft>
            </a:pPr>
            <a:r>
              <a:rPr sz="1000" b="0" i="0">
                <a:solidFill>
                  <a:srgbClr val="E7EBF2"/>
                </a:solidFill>
                <a:latin typeface="Consolas"/>
              </a:rPr>
              <a:t>#1041     Physio      $120</a:t>
            </a:r>
          </a:p>
        </p:txBody>
      </p:sp>
      <p:sp>
        <p:nvSpPr>
          <p:cNvPr id="16" name="Rectangle 15"/>
          <p:cNvSpPr/>
          <p:nvPr/>
        </p:nvSpPr>
        <p:spPr>
          <a:xfrm>
            <a:off x="7726680" y="2807208"/>
            <a:ext cx="3566160" cy="7315"/>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2825496"/>
            <a:ext cx="3383280" cy="292608"/>
          </a:xfrm>
          <a:prstGeom prst="rect">
            <a:avLst/>
          </a:prstGeom>
          <a:noFill/>
        </p:spPr>
        <p:txBody>
          <a:bodyPr wrap="square" anchor="ctr" lIns="0" rIns="0" tIns="0" bIns="0">
            <a:spAutoFit/>
          </a:bodyPr>
          <a:lstStyle/>
          <a:p>
            <a:pPr algn="l">
              <a:lnSpc>
                <a:spcPct val="100000"/>
              </a:lnSpc>
              <a:spcBef>
                <a:spcPts val="0"/>
              </a:spcBef>
              <a:spcAft>
                <a:spcPts val="0"/>
              </a:spcAft>
            </a:pPr>
            <a:r>
              <a:rPr sz="1000" b="0" i="0">
                <a:solidFill>
                  <a:srgbClr val="E7EBF2"/>
                </a:solidFill>
                <a:latin typeface="Consolas"/>
              </a:rPr>
              <a:t>#1042     Massage     $95</a:t>
            </a:r>
          </a:p>
        </p:txBody>
      </p:sp>
      <p:sp>
        <p:nvSpPr>
          <p:cNvPr id="18" name="Rectangle 17"/>
          <p:cNvSpPr/>
          <p:nvPr/>
        </p:nvSpPr>
        <p:spPr>
          <a:xfrm>
            <a:off x="7726680" y="3118103"/>
            <a:ext cx="3566160" cy="7315"/>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136391"/>
            <a:ext cx="3383280" cy="292608"/>
          </a:xfrm>
          <a:prstGeom prst="rect">
            <a:avLst/>
          </a:prstGeom>
          <a:noFill/>
        </p:spPr>
        <p:txBody>
          <a:bodyPr wrap="square" anchor="ctr" lIns="0" rIns="0" tIns="0" bIns="0">
            <a:spAutoFit/>
          </a:bodyPr>
          <a:lstStyle/>
          <a:p>
            <a:pPr algn="l">
              <a:lnSpc>
                <a:spcPct val="100000"/>
              </a:lnSpc>
              <a:spcBef>
                <a:spcPts val="0"/>
              </a:spcBef>
              <a:spcAft>
                <a:spcPts val="0"/>
              </a:spcAft>
            </a:pPr>
            <a:r>
              <a:rPr sz="1000" b="0" i="0">
                <a:solidFill>
                  <a:srgbClr val="E7EBF2"/>
                </a:solidFill>
                <a:latin typeface="Consolas"/>
              </a:rPr>
              <a:t>#1043     Physio      $120</a:t>
            </a:r>
          </a:p>
        </p:txBody>
      </p:sp>
      <p:sp>
        <p:nvSpPr>
          <p:cNvPr id="20" name="Rectangle 19"/>
          <p:cNvSpPr/>
          <p:nvPr/>
        </p:nvSpPr>
        <p:spPr>
          <a:xfrm>
            <a:off x="7726680" y="3428999"/>
            <a:ext cx="3566160" cy="7315"/>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447287"/>
            <a:ext cx="3383280" cy="292608"/>
          </a:xfrm>
          <a:prstGeom prst="rect">
            <a:avLst/>
          </a:prstGeom>
          <a:noFill/>
        </p:spPr>
        <p:txBody>
          <a:bodyPr wrap="square" anchor="ctr" lIns="0" rIns="0" tIns="0" bIns="0">
            <a:spAutoFit/>
          </a:bodyPr>
          <a:lstStyle/>
          <a:p>
            <a:pPr algn="l">
              <a:lnSpc>
                <a:spcPct val="100000"/>
              </a:lnSpc>
              <a:spcBef>
                <a:spcPts val="0"/>
              </a:spcBef>
              <a:spcAft>
                <a:spcPts val="0"/>
              </a:spcAft>
            </a:pPr>
            <a:r>
              <a:rPr sz="1000" b="0" i="0">
                <a:solidFill>
                  <a:srgbClr val="E7EBF2"/>
                </a:solidFill>
                <a:latin typeface="Consolas"/>
              </a:rPr>
              <a:t>#1044     Classes     $18</a:t>
            </a:r>
          </a:p>
        </p:txBody>
      </p:sp>
      <p:sp>
        <p:nvSpPr>
          <p:cNvPr id="22" name="Rectangle 21"/>
          <p:cNvSpPr/>
          <p:nvPr/>
        </p:nvSpPr>
        <p:spPr>
          <a:xfrm>
            <a:off x="7726680" y="3739896"/>
            <a:ext cx="3566160" cy="7315"/>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80" y="3922775"/>
            <a:ext cx="3566160" cy="365760"/>
          </a:xfrm>
          <a:prstGeom prst="rect">
            <a:avLst/>
          </a:prstGeom>
          <a:noFill/>
        </p:spPr>
        <p:txBody>
          <a:bodyPr wrap="square" anchor="t" lIns="0" rIns="0" tIns="0" bIns="0">
            <a:spAutoFit/>
          </a:bodyPr>
          <a:lstStyle/>
          <a:p>
            <a:pPr algn="ctr">
              <a:lnSpc>
                <a:spcPct val="100000"/>
              </a:lnSpc>
              <a:spcBef>
                <a:spcPts val="0"/>
              </a:spcBef>
              <a:spcAft>
                <a:spcPts val="0"/>
              </a:spcAft>
            </a:pPr>
            <a:r>
              <a:rPr sz="1100" b="1" i="0">
                <a:solidFill>
                  <a:srgbClr val="8EA4D6"/>
                </a:solidFill>
                <a:latin typeface="Consolas"/>
              </a:rPr>
              <a:t>↓  grouped &amp; summed</a:t>
            </a:r>
          </a:p>
        </p:txBody>
      </p:sp>
      <p:sp>
        <p:nvSpPr>
          <p:cNvPr id="24" name="Rounded Rectangle 23"/>
          <p:cNvSpPr/>
          <p:nvPr/>
        </p:nvSpPr>
        <p:spPr>
          <a:xfrm>
            <a:off x="7726680" y="4325112"/>
            <a:ext cx="3566160" cy="713232"/>
          </a:xfrm>
          <a:prstGeom prst="roundRect">
            <a:avLst>
              <a:gd name="adj" fmla="val 14000"/>
            </a:avLst>
          </a:prstGeom>
          <a:solidFill>
            <a:srgbClr val="14213D"/>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9560" y="4325112"/>
            <a:ext cx="3200400" cy="713232"/>
          </a:xfrm>
          <a:prstGeom prst="rect">
            <a:avLst/>
          </a:prstGeom>
          <a:noFill/>
        </p:spPr>
        <p:txBody>
          <a:bodyPr wrap="square" anchor="ctr" lIns="0" rIns="0" tIns="0" bIns="0">
            <a:spAutoFit/>
          </a:bodyPr>
          <a:lstStyle/>
          <a:p>
            <a:pPr algn="l">
              <a:lnSpc>
                <a:spcPct val="100000"/>
              </a:lnSpc>
              <a:spcBef>
                <a:spcPts val="0"/>
              </a:spcBef>
              <a:spcAft>
                <a:spcPts val="0"/>
              </a:spcAft>
            </a:pPr>
            <a:r>
              <a:rPr sz="1400" b="1" i="0">
                <a:solidFill>
                  <a:srgbClr val="E7EBF2"/>
                </a:solidFill>
                <a:latin typeface="Consolas"/>
              </a:rPr>
              <a:t>Physio  </a:t>
            </a:r>
            <a:r>
              <a:rPr sz="1300" b="1" i="0">
                <a:solidFill>
                  <a:srgbClr val="27C08A"/>
                </a:solidFill>
                <a:latin typeface="Consolas"/>
              </a:rPr>
              <a:t>= $240 (44% of revenue)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23444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7C08A"/>
                </a:solidFill>
                <a:latin typeface="Consolas"/>
              </a:rPr>
              <a:t>PRIVACY BY DESIGN</a:t>
            </a:r>
          </a:p>
        </p:txBody>
      </p:sp>
      <p:sp>
        <p:nvSpPr>
          <p:cNvPr id="7" name="TextBox 6"/>
          <p:cNvSpPr txBox="1"/>
          <p:nvPr/>
        </p:nvSpPr>
        <p:spPr>
          <a:xfrm>
            <a:off x="530352" y="1572768"/>
            <a:ext cx="11155680" cy="82296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E7EBF2"/>
                </a:solidFill>
                <a:latin typeface="Calibri"/>
              </a:rPr>
              <a:t>Your data never leaves your computer</a:t>
            </a:r>
          </a:p>
        </p:txBody>
      </p:sp>
      <p:sp>
        <p:nvSpPr>
          <p:cNvPr id="8" name="TextBox 7"/>
          <p:cNvSpPr txBox="1"/>
          <p:nvPr/>
        </p:nvSpPr>
        <p:spPr>
          <a:xfrm>
            <a:off x="548640" y="2377440"/>
            <a:ext cx="10698480" cy="548640"/>
          </a:xfrm>
          <a:prstGeom prst="rect">
            <a:avLst/>
          </a:prstGeom>
          <a:noFill/>
        </p:spPr>
        <p:txBody>
          <a:bodyPr wrap="square" anchor="t" lIns="0" rIns="0" tIns="0" bIns="0">
            <a:spAutoFit/>
          </a:bodyPr>
          <a:lstStyle/>
          <a:p>
            <a:pPr algn="l">
              <a:lnSpc>
                <a:spcPct val="110000"/>
              </a:lnSpc>
              <a:spcBef>
                <a:spcPts val="0"/>
              </a:spcBef>
              <a:spcAft>
                <a:spcPts val="0"/>
              </a:spcAft>
            </a:pPr>
            <a:r>
              <a:rPr sz="1600" b="0" i="0">
                <a:solidFill>
                  <a:srgbClr val="9AA3B5"/>
                </a:solidFill>
                <a:latin typeface="Calibri"/>
              </a:rPr>
              <a:t>The analysis runs on your machine. We have no server — so there is nothing on our side to leak, lose, or hand over.</a:t>
            </a:r>
          </a:p>
        </p:txBody>
      </p:sp>
      <p:sp>
        <p:nvSpPr>
          <p:cNvPr id="9" name="Rounded Rectangle 8"/>
          <p:cNvSpPr/>
          <p:nvPr/>
        </p:nvSpPr>
        <p:spPr>
          <a:xfrm>
            <a:off x="548640" y="3108960"/>
            <a:ext cx="3456432" cy="22860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3419856"/>
            <a:ext cx="420624" cy="420624"/>
          </a:xfrm>
          <a:prstGeom prst="ellipse">
            <a:avLst/>
          </a:prstGeom>
          <a:solidFill>
            <a:srgbClr val="10261D"/>
          </a:solidFill>
          <a:ln w="15875">
            <a:solidFill>
              <a:srgbClr val="27C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3419856"/>
            <a:ext cx="420624" cy="420624"/>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27C08A"/>
                </a:solidFill>
                <a:latin typeface="Calibri"/>
              </a:rPr>
              <a:t>✓</a:t>
            </a:r>
          </a:p>
        </p:txBody>
      </p:sp>
      <p:sp>
        <p:nvSpPr>
          <p:cNvPr id="12" name="TextBox 11"/>
          <p:cNvSpPr txBox="1"/>
          <p:nvPr/>
        </p:nvSpPr>
        <p:spPr>
          <a:xfrm>
            <a:off x="841247" y="4041648"/>
            <a:ext cx="2871215" cy="45720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E7EBF2"/>
                </a:solidFill>
                <a:latin typeface="Calibri"/>
              </a:rPr>
              <a:t>Runs on your machine</a:t>
            </a:r>
          </a:p>
        </p:txBody>
      </p:sp>
      <p:sp>
        <p:nvSpPr>
          <p:cNvPr id="13" name="TextBox 12"/>
          <p:cNvSpPr txBox="1"/>
          <p:nvPr/>
        </p:nvSpPr>
        <p:spPr>
          <a:xfrm>
            <a:off x="841247" y="4480560"/>
            <a:ext cx="2871215" cy="822960"/>
          </a:xfrm>
          <a:prstGeom prst="rect">
            <a:avLst/>
          </a:prstGeom>
          <a:noFill/>
        </p:spPr>
        <p:txBody>
          <a:bodyPr wrap="square" anchor="t" lIns="0" rIns="0" tIns="0" bIns="0">
            <a:spAutoFit/>
          </a:bodyPr>
          <a:lstStyle/>
          <a:p>
            <a:pPr algn="l">
              <a:lnSpc>
                <a:spcPct val="110000"/>
              </a:lnSpc>
              <a:spcBef>
                <a:spcPts val="0"/>
              </a:spcBef>
              <a:spcAft>
                <a:spcPts val="0"/>
              </a:spcAft>
            </a:pPr>
            <a:r>
              <a:rPr sz="1300" b="0" i="0">
                <a:solidFill>
                  <a:srgbClr val="9AA3B5"/>
                </a:solidFill>
                <a:latin typeface="Calibri"/>
              </a:rPr>
              <a:t>You open the app and your own files. Nothing is uploaded to us. We literally cannot see your data.</a:t>
            </a:r>
          </a:p>
        </p:txBody>
      </p:sp>
      <p:sp>
        <p:nvSpPr>
          <p:cNvPr id="14" name="Rounded Rectangle 13"/>
          <p:cNvSpPr/>
          <p:nvPr/>
        </p:nvSpPr>
        <p:spPr>
          <a:xfrm>
            <a:off x="4462271" y="3108960"/>
            <a:ext cx="3456432" cy="22860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54879" y="3419856"/>
            <a:ext cx="420624" cy="420624"/>
          </a:xfrm>
          <a:prstGeom prst="ellipse">
            <a:avLst/>
          </a:prstGeom>
          <a:solidFill>
            <a:srgbClr val="10261D"/>
          </a:solidFill>
          <a:ln w="15875">
            <a:solidFill>
              <a:srgbClr val="27C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79" y="3419856"/>
            <a:ext cx="420624" cy="420624"/>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27C08A"/>
                </a:solidFill>
                <a:latin typeface="Calibri"/>
              </a:rPr>
              <a:t>✓</a:t>
            </a:r>
          </a:p>
        </p:txBody>
      </p:sp>
      <p:sp>
        <p:nvSpPr>
          <p:cNvPr id="17" name="TextBox 16"/>
          <p:cNvSpPr txBox="1"/>
          <p:nvPr/>
        </p:nvSpPr>
        <p:spPr>
          <a:xfrm>
            <a:off x="4754879" y="4041648"/>
            <a:ext cx="2871215" cy="45720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E7EBF2"/>
                </a:solidFill>
                <a:latin typeface="Calibri"/>
              </a:rPr>
              <a:t>We handle the brain</a:t>
            </a:r>
          </a:p>
        </p:txBody>
      </p:sp>
      <p:sp>
        <p:nvSpPr>
          <p:cNvPr id="18" name="TextBox 17"/>
          <p:cNvSpPr txBox="1"/>
          <p:nvPr/>
        </p:nvSpPr>
        <p:spPr>
          <a:xfrm>
            <a:off x="4754879" y="4480560"/>
            <a:ext cx="2871215" cy="822960"/>
          </a:xfrm>
          <a:prstGeom prst="rect">
            <a:avLst/>
          </a:prstGeom>
          <a:noFill/>
        </p:spPr>
        <p:txBody>
          <a:bodyPr wrap="square" anchor="t" lIns="0" rIns="0" tIns="0" bIns="0">
            <a:spAutoFit/>
          </a:bodyPr>
          <a:lstStyle/>
          <a:p>
            <a:pPr algn="l">
              <a:lnSpc>
                <a:spcPct val="110000"/>
              </a:lnSpc>
              <a:spcBef>
                <a:spcPts val="0"/>
              </a:spcBef>
              <a:spcAft>
                <a:spcPts val="0"/>
              </a:spcAft>
            </a:pPr>
            <a:r>
              <a:rPr sz="1300" b="0" i="0">
                <a:solidFill>
                  <a:srgbClr val="9AA3B5"/>
                </a:solidFill>
                <a:latin typeface="Calibri"/>
              </a:rPr>
              <a:t>No AI account, no keys, no setup. We provide the analyst's intelligence — you just ask.</a:t>
            </a:r>
          </a:p>
        </p:txBody>
      </p:sp>
      <p:sp>
        <p:nvSpPr>
          <p:cNvPr id="19" name="Rounded Rectangle 18"/>
          <p:cNvSpPr/>
          <p:nvPr/>
        </p:nvSpPr>
        <p:spPr>
          <a:xfrm>
            <a:off x="8375903" y="3108960"/>
            <a:ext cx="3456432" cy="22860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68511" y="3419856"/>
            <a:ext cx="420624" cy="420624"/>
          </a:xfrm>
          <a:prstGeom prst="ellipse">
            <a:avLst/>
          </a:prstGeom>
          <a:solidFill>
            <a:srgbClr val="10261D"/>
          </a:solidFill>
          <a:ln w="15875">
            <a:solidFill>
              <a:srgbClr val="27C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68511" y="3419856"/>
            <a:ext cx="420624" cy="420624"/>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27C08A"/>
                </a:solidFill>
                <a:latin typeface="Calibri"/>
              </a:rPr>
              <a:t>✓</a:t>
            </a:r>
          </a:p>
        </p:txBody>
      </p:sp>
      <p:sp>
        <p:nvSpPr>
          <p:cNvPr id="22" name="TextBox 21"/>
          <p:cNvSpPr txBox="1"/>
          <p:nvPr/>
        </p:nvSpPr>
        <p:spPr>
          <a:xfrm>
            <a:off x="8668511" y="4041648"/>
            <a:ext cx="2871215" cy="45720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E7EBF2"/>
                </a:solidFill>
                <a:latin typeface="Calibri"/>
              </a:rPr>
              <a:t>Sensitive data? Go offline</a:t>
            </a:r>
          </a:p>
        </p:txBody>
      </p:sp>
      <p:sp>
        <p:nvSpPr>
          <p:cNvPr id="23" name="TextBox 22"/>
          <p:cNvSpPr txBox="1"/>
          <p:nvPr/>
        </p:nvSpPr>
        <p:spPr>
          <a:xfrm>
            <a:off x="8668511" y="4480560"/>
            <a:ext cx="2871215" cy="822960"/>
          </a:xfrm>
          <a:prstGeom prst="rect">
            <a:avLst/>
          </a:prstGeom>
          <a:noFill/>
        </p:spPr>
        <p:txBody>
          <a:bodyPr wrap="square" anchor="t" lIns="0" rIns="0" tIns="0" bIns="0">
            <a:spAutoFit/>
          </a:bodyPr>
          <a:lstStyle/>
          <a:p>
            <a:pPr algn="l">
              <a:lnSpc>
                <a:spcPct val="110000"/>
              </a:lnSpc>
              <a:spcBef>
                <a:spcPts val="0"/>
              </a:spcBef>
              <a:spcAft>
                <a:spcPts val="0"/>
              </a:spcAft>
            </a:pPr>
            <a:r>
              <a:rPr sz="1300" b="0" i="0">
                <a:solidFill>
                  <a:srgbClr val="9AA3B5"/>
                </a:solidFill>
                <a:latin typeface="Calibri"/>
              </a:rPr>
              <a:t>Flip one switch and even the AI runs locally. Nothing leaves the building — built for health, finance and legal.</a:t>
            </a:r>
          </a:p>
        </p:txBody>
      </p:sp>
      <p:sp>
        <p:nvSpPr>
          <p:cNvPr id="24" name="TextBox 23"/>
          <p:cNvSpPr txBox="1"/>
          <p:nvPr/>
        </p:nvSpPr>
        <p:spPr>
          <a:xfrm>
            <a:off x="548640" y="5806440"/>
            <a:ext cx="11064240" cy="640080"/>
          </a:xfrm>
          <a:prstGeom prst="rect">
            <a:avLst/>
          </a:prstGeom>
          <a:noFill/>
        </p:spPr>
        <p:txBody>
          <a:bodyPr wrap="square" anchor="t" lIns="0" rIns="0" tIns="0" bIns="0">
            <a:spAutoFit/>
          </a:bodyPr>
          <a:lstStyle/>
          <a:p>
            <a:pPr algn="l">
              <a:lnSpc>
                <a:spcPct val="108000"/>
              </a:lnSpc>
              <a:spcBef>
                <a:spcPts val="0"/>
              </a:spcBef>
              <a:spcAft>
                <a:spcPts val="0"/>
              </a:spcAft>
            </a:pPr>
            <a:r>
              <a:rPr sz="1250" b="1" i="0">
                <a:solidFill>
                  <a:srgbClr val="8EA4D6"/>
                </a:solidFill>
                <a:latin typeface="Calibri"/>
              </a:rPr>
              <a:t>Honest version: </a:t>
            </a:r>
            <a:r>
              <a:rPr sz="1250" b="0" i="0">
                <a:solidFill>
                  <a:srgbClr val="9AA3B5"/>
                </a:solidFill>
                <a:latin typeface="Calibri"/>
              </a:rPr>
              <a:t>with cloud AI, only your question and its results reach the AI provider — never us, and never used to train anything. Prefer total isolation? Offline mode sends nothing at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23444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WHAT YOU GET</a:t>
            </a:r>
          </a:p>
        </p:txBody>
      </p:sp>
      <p:sp>
        <p:nvSpPr>
          <p:cNvPr id="7" name="TextBox 6"/>
          <p:cNvSpPr txBox="1"/>
          <p:nvPr/>
        </p:nvSpPr>
        <p:spPr>
          <a:xfrm>
            <a:off x="530352" y="1572768"/>
            <a:ext cx="10972800" cy="8229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What actually lands in your inbox</a:t>
            </a:r>
          </a:p>
        </p:txBody>
      </p:sp>
      <p:sp>
        <p:nvSpPr>
          <p:cNvPr id="8" name="Rounded Rectangle 7"/>
          <p:cNvSpPr/>
          <p:nvPr/>
        </p:nvSpPr>
        <p:spPr>
          <a:xfrm>
            <a:off x="548640" y="2788920"/>
            <a:ext cx="5349240" cy="150876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3108960"/>
            <a:ext cx="384048" cy="384048"/>
          </a:xfrm>
          <a:prstGeom prst="ellipse">
            <a:avLst/>
          </a:prstGeom>
          <a:solidFill>
            <a:srgbClr val="14213D"/>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108960"/>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200" b="1" i="0">
                <a:solidFill>
                  <a:srgbClr val="2F6BFF"/>
                </a:solidFill>
                <a:latin typeface="Calibri"/>
              </a:rPr>
              <a:t>●</a:t>
            </a:r>
          </a:p>
        </p:txBody>
      </p:sp>
      <p:sp>
        <p:nvSpPr>
          <p:cNvPr id="11" name="TextBox 10"/>
          <p:cNvSpPr txBox="1"/>
          <p:nvPr/>
        </p:nvSpPr>
        <p:spPr>
          <a:xfrm>
            <a:off x="1417319" y="3081527"/>
            <a:ext cx="4206240" cy="457200"/>
          </a:xfrm>
          <a:prstGeom prst="rect">
            <a:avLst/>
          </a:prstGeom>
          <a:noFill/>
        </p:spPr>
        <p:txBody>
          <a:bodyPr wrap="square" anchor="ctr" lIns="0" rIns="0" tIns="0" bIns="0">
            <a:spAutoFit/>
          </a:bodyPr>
          <a:lstStyle/>
          <a:p>
            <a:pPr algn="l">
              <a:lnSpc>
                <a:spcPct val="100000"/>
              </a:lnSpc>
              <a:spcBef>
                <a:spcPts val="0"/>
              </a:spcBef>
              <a:spcAft>
                <a:spcPts val="0"/>
              </a:spcAft>
            </a:pPr>
            <a:r>
              <a:rPr sz="1650" b="1" i="0">
                <a:solidFill>
                  <a:srgbClr val="E7EBF2"/>
                </a:solidFill>
                <a:latin typeface="Calibri"/>
              </a:rPr>
              <a:t>Monthly insight report</a:t>
            </a:r>
          </a:p>
        </p:txBody>
      </p:sp>
      <p:sp>
        <p:nvSpPr>
          <p:cNvPr id="12" name="TextBox 11"/>
          <p:cNvSpPr txBox="1"/>
          <p:nvPr/>
        </p:nvSpPr>
        <p:spPr>
          <a:xfrm>
            <a:off x="1417319" y="3557015"/>
            <a:ext cx="4206240" cy="640080"/>
          </a:xfrm>
          <a:prstGeom prst="rect">
            <a:avLst/>
          </a:prstGeom>
          <a:noFill/>
        </p:spPr>
        <p:txBody>
          <a:bodyPr wrap="square" anchor="t" lIns="0" rIns="0" tIns="0" bIns="0">
            <a:spAutoFit/>
          </a:bodyPr>
          <a:lstStyle/>
          <a:p>
            <a:pPr algn="l">
              <a:lnSpc>
                <a:spcPct val="110000"/>
              </a:lnSpc>
              <a:spcBef>
                <a:spcPts val="0"/>
              </a:spcBef>
              <a:spcAft>
                <a:spcPts val="0"/>
              </a:spcAft>
            </a:pPr>
            <a:r>
              <a:rPr sz="1350" b="0" i="0">
                <a:solidFill>
                  <a:srgbClr val="9AA3B5"/>
                </a:solidFill>
                <a:latin typeface="Calibri"/>
              </a:rPr>
              <a:t>A short, clean deck answering your top business questions — every month.</a:t>
            </a:r>
          </a:p>
        </p:txBody>
      </p:sp>
      <p:sp>
        <p:nvSpPr>
          <p:cNvPr id="13" name="Rounded Rectangle 12"/>
          <p:cNvSpPr/>
          <p:nvPr/>
        </p:nvSpPr>
        <p:spPr>
          <a:xfrm>
            <a:off x="6153912" y="2788920"/>
            <a:ext cx="5349240" cy="150876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3951" y="3108960"/>
            <a:ext cx="384048" cy="384048"/>
          </a:xfrm>
          <a:prstGeom prst="ellipse">
            <a:avLst/>
          </a:prstGeom>
          <a:solidFill>
            <a:srgbClr val="14213D"/>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1" y="3108960"/>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200" b="1" i="0">
                <a:solidFill>
                  <a:srgbClr val="2F6BFF"/>
                </a:solidFill>
                <a:latin typeface="Calibri"/>
              </a:rPr>
              <a:t>●</a:t>
            </a:r>
          </a:p>
        </p:txBody>
      </p:sp>
      <p:sp>
        <p:nvSpPr>
          <p:cNvPr id="16" name="TextBox 15"/>
          <p:cNvSpPr txBox="1"/>
          <p:nvPr/>
        </p:nvSpPr>
        <p:spPr>
          <a:xfrm>
            <a:off x="7022592" y="3081527"/>
            <a:ext cx="4206240" cy="457200"/>
          </a:xfrm>
          <a:prstGeom prst="rect">
            <a:avLst/>
          </a:prstGeom>
          <a:noFill/>
        </p:spPr>
        <p:txBody>
          <a:bodyPr wrap="square" anchor="ctr" lIns="0" rIns="0" tIns="0" bIns="0">
            <a:spAutoFit/>
          </a:bodyPr>
          <a:lstStyle/>
          <a:p>
            <a:pPr algn="l">
              <a:lnSpc>
                <a:spcPct val="100000"/>
              </a:lnSpc>
              <a:spcBef>
                <a:spcPts val="0"/>
              </a:spcBef>
              <a:spcAft>
                <a:spcPts val="0"/>
              </a:spcAft>
            </a:pPr>
            <a:r>
              <a:rPr sz="1650" b="1" i="0">
                <a:solidFill>
                  <a:srgbClr val="E7EBF2"/>
                </a:solidFill>
                <a:latin typeface="Calibri"/>
              </a:rPr>
              <a:t>Ask-anything answers</a:t>
            </a:r>
          </a:p>
        </p:txBody>
      </p:sp>
      <p:sp>
        <p:nvSpPr>
          <p:cNvPr id="17" name="TextBox 16"/>
          <p:cNvSpPr txBox="1"/>
          <p:nvPr/>
        </p:nvSpPr>
        <p:spPr>
          <a:xfrm>
            <a:off x="7022592" y="3557015"/>
            <a:ext cx="4206240" cy="640080"/>
          </a:xfrm>
          <a:prstGeom prst="rect">
            <a:avLst/>
          </a:prstGeom>
          <a:noFill/>
        </p:spPr>
        <p:txBody>
          <a:bodyPr wrap="square" anchor="t" lIns="0" rIns="0" tIns="0" bIns="0">
            <a:spAutoFit/>
          </a:bodyPr>
          <a:lstStyle/>
          <a:p>
            <a:pPr algn="l">
              <a:lnSpc>
                <a:spcPct val="110000"/>
              </a:lnSpc>
              <a:spcBef>
                <a:spcPts val="0"/>
              </a:spcBef>
              <a:spcAft>
                <a:spcPts val="0"/>
              </a:spcAft>
            </a:pPr>
            <a:r>
              <a:rPr sz="1350" b="0" i="0">
                <a:solidFill>
                  <a:srgbClr val="9AA3B5"/>
                </a:solidFill>
                <a:latin typeface="Calibri"/>
              </a:rPr>
              <a:t>A question mid-month? Send it over, get a clear answer back — no meeting needed.</a:t>
            </a:r>
          </a:p>
        </p:txBody>
      </p:sp>
      <p:sp>
        <p:nvSpPr>
          <p:cNvPr id="18" name="Rounded Rectangle 17"/>
          <p:cNvSpPr/>
          <p:nvPr/>
        </p:nvSpPr>
        <p:spPr>
          <a:xfrm>
            <a:off x="548640" y="4553712"/>
            <a:ext cx="5349240" cy="150876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4873751"/>
            <a:ext cx="384048" cy="384048"/>
          </a:xfrm>
          <a:prstGeom prst="ellipse">
            <a:avLst/>
          </a:prstGeom>
          <a:solidFill>
            <a:srgbClr val="14213D"/>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873751"/>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200" b="1" i="0">
                <a:solidFill>
                  <a:srgbClr val="2F6BFF"/>
                </a:solidFill>
                <a:latin typeface="Calibri"/>
              </a:rPr>
              <a:t>●</a:t>
            </a:r>
          </a:p>
        </p:txBody>
      </p:sp>
      <p:sp>
        <p:nvSpPr>
          <p:cNvPr id="21" name="TextBox 20"/>
          <p:cNvSpPr txBox="1"/>
          <p:nvPr/>
        </p:nvSpPr>
        <p:spPr>
          <a:xfrm>
            <a:off x="1417319" y="4846320"/>
            <a:ext cx="4206240" cy="457200"/>
          </a:xfrm>
          <a:prstGeom prst="rect">
            <a:avLst/>
          </a:prstGeom>
          <a:noFill/>
        </p:spPr>
        <p:txBody>
          <a:bodyPr wrap="square" anchor="ctr" lIns="0" rIns="0" tIns="0" bIns="0">
            <a:spAutoFit/>
          </a:bodyPr>
          <a:lstStyle/>
          <a:p>
            <a:pPr algn="l">
              <a:lnSpc>
                <a:spcPct val="100000"/>
              </a:lnSpc>
              <a:spcBef>
                <a:spcPts val="0"/>
              </a:spcBef>
              <a:spcAft>
                <a:spcPts val="0"/>
              </a:spcAft>
            </a:pPr>
            <a:r>
              <a:rPr sz="1650" b="1" i="0">
                <a:solidFill>
                  <a:srgbClr val="E7EBF2"/>
                </a:solidFill>
                <a:latin typeface="Calibri"/>
              </a:rPr>
              <a:t>Charts that present well</a:t>
            </a:r>
          </a:p>
        </p:txBody>
      </p:sp>
      <p:sp>
        <p:nvSpPr>
          <p:cNvPr id="22" name="TextBox 21"/>
          <p:cNvSpPr txBox="1"/>
          <p:nvPr/>
        </p:nvSpPr>
        <p:spPr>
          <a:xfrm>
            <a:off x="1417319" y="5321807"/>
            <a:ext cx="4206240" cy="640080"/>
          </a:xfrm>
          <a:prstGeom prst="rect">
            <a:avLst/>
          </a:prstGeom>
          <a:noFill/>
        </p:spPr>
        <p:txBody>
          <a:bodyPr wrap="square" anchor="t" lIns="0" rIns="0" tIns="0" bIns="0">
            <a:spAutoFit/>
          </a:bodyPr>
          <a:lstStyle/>
          <a:p>
            <a:pPr algn="l">
              <a:lnSpc>
                <a:spcPct val="110000"/>
              </a:lnSpc>
              <a:spcBef>
                <a:spcPts val="0"/>
              </a:spcBef>
              <a:spcAft>
                <a:spcPts val="0"/>
              </a:spcAft>
            </a:pPr>
            <a:r>
              <a:rPr sz="1350" b="0" i="0">
                <a:solidFill>
                  <a:srgbClr val="9AA3B5"/>
                </a:solidFill>
                <a:latin typeface="Calibri"/>
              </a:rPr>
              <a:t>Straight into PowerPoint or Word, for your team, your partners, or your own clarity.</a:t>
            </a:r>
          </a:p>
        </p:txBody>
      </p:sp>
      <p:sp>
        <p:nvSpPr>
          <p:cNvPr id="23" name="Rounded Rectangle 22"/>
          <p:cNvSpPr/>
          <p:nvPr/>
        </p:nvSpPr>
        <p:spPr>
          <a:xfrm>
            <a:off x="6153912" y="4553712"/>
            <a:ext cx="5349240" cy="150876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3951" y="4873751"/>
            <a:ext cx="384048" cy="384048"/>
          </a:xfrm>
          <a:prstGeom prst="ellipse">
            <a:avLst/>
          </a:prstGeom>
          <a:solidFill>
            <a:srgbClr val="14213D"/>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1" y="4873751"/>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200" b="1" i="0">
                <a:solidFill>
                  <a:srgbClr val="2F6BFF"/>
                </a:solidFill>
                <a:latin typeface="Calibri"/>
              </a:rPr>
              <a:t>●</a:t>
            </a:r>
          </a:p>
        </p:txBody>
      </p:sp>
      <p:sp>
        <p:nvSpPr>
          <p:cNvPr id="26" name="TextBox 25"/>
          <p:cNvSpPr txBox="1"/>
          <p:nvPr/>
        </p:nvSpPr>
        <p:spPr>
          <a:xfrm>
            <a:off x="7022592" y="4846320"/>
            <a:ext cx="4206240" cy="457200"/>
          </a:xfrm>
          <a:prstGeom prst="rect">
            <a:avLst/>
          </a:prstGeom>
          <a:noFill/>
        </p:spPr>
        <p:txBody>
          <a:bodyPr wrap="square" anchor="ctr" lIns="0" rIns="0" tIns="0" bIns="0">
            <a:spAutoFit/>
          </a:bodyPr>
          <a:lstStyle/>
          <a:p>
            <a:pPr algn="l">
              <a:lnSpc>
                <a:spcPct val="100000"/>
              </a:lnSpc>
              <a:spcBef>
                <a:spcPts val="0"/>
              </a:spcBef>
              <a:spcAft>
                <a:spcPts val="0"/>
              </a:spcAft>
            </a:pPr>
            <a:r>
              <a:rPr sz="1650" b="1" i="0">
                <a:solidFill>
                  <a:srgbClr val="E7EBF2"/>
                </a:solidFill>
                <a:latin typeface="Calibri"/>
              </a:rPr>
              <a:t>No setup, no AI account</a:t>
            </a:r>
          </a:p>
        </p:txBody>
      </p:sp>
      <p:sp>
        <p:nvSpPr>
          <p:cNvPr id="27" name="TextBox 26"/>
          <p:cNvSpPr txBox="1"/>
          <p:nvPr/>
        </p:nvSpPr>
        <p:spPr>
          <a:xfrm>
            <a:off x="7022592" y="5321807"/>
            <a:ext cx="4206240" cy="640080"/>
          </a:xfrm>
          <a:prstGeom prst="rect">
            <a:avLst/>
          </a:prstGeom>
          <a:noFill/>
        </p:spPr>
        <p:txBody>
          <a:bodyPr wrap="square" anchor="t" lIns="0" rIns="0" tIns="0" bIns="0">
            <a:spAutoFit/>
          </a:bodyPr>
          <a:lstStyle/>
          <a:p>
            <a:pPr algn="l">
              <a:lnSpc>
                <a:spcPct val="110000"/>
              </a:lnSpc>
              <a:spcBef>
                <a:spcPts val="0"/>
              </a:spcBef>
              <a:spcAft>
                <a:spcPts val="0"/>
              </a:spcAft>
            </a:pPr>
            <a:r>
              <a:rPr sz="1350" b="0" i="0">
                <a:solidFill>
                  <a:srgbClr val="9AA3B5"/>
                </a:solidFill>
                <a:latin typeface="Calibri"/>
              </a:rPr>
              <a:t>We handle the analyst's brain. No keys, no configuration — just open the app and 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09728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FOR YOUR BUSINESS</a:t>
            </a:r>
          </a:p>
        </p:txBody>
      </p:sp>
      <p:sp>
        <p:nvSpPr>
          <p:cNvPr id="7" name="TextBox 6"/>
          <p:cNvSpPr txBox="1"/>
          <p:nvPr/>
        </p:nvSpPr>
        <p:spPr>
          <a:xfrm>
            <a:off x="530352" y="1417320"/>
            <a:ext cx="10972800" cy="8229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The questions I'll answer for you</a:t>
            </a:r>
          </a:p>
        </p:txBody>
      </p:sp>
      <p:sp>
        <p:nvSpPr>
          <p:cNvPr id="8" name="Rounded Rectangle 7"/>
          <p:cNvSpPr/>
          <p:nvPr/>
        </p:nvSpPr>
        <p:spPr>
          <a:xfrm>
            <a:off x="548640" y="2514600"/>
            <a:ext cx="3456432"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770632"/>
            <a:ext cx="2907791" cy="1024128"/>
          </a:xfrm>
          <a:prstGeom prst="rect">
            <a:avLst/>
          </a:prstGeom>
          <a:noFill/>
        </p:spPr>
        <p:txBody>
          <a:bodyPr wrap="square" anchor="t" lIns="0" rIns="0" tIns="0" bIns="0">
            <a:spAutoFit/>
          </a:bodyPr>
          <a:lstStyle/>
          <a:p>
            <a:pPr algn="l">
              <a:lnSpc>
                <a:spcPct val="104000"/>
              </a:lnSpc>
              <a:spcBef>
                <a:spcPts val="0"/>
              </a:spcBef>
              <a:spcAft>
                <a:spcPts val="700"/>
              </a:spcAft>
            </a:pPr>
            <a:r>
              <a:rPr sz="1500" b="1" i="0">
                <a:solidFill>
                  <a:srgbClr val="E7EBF2"/>
                </a:solidFill>
                <a:latin typeface="Calibri"/>
              </a:rPr>
              <a:t>Which services actually make you money?</a:t>
            </a:r>
          </a:p>
          <a:p>
            <a:pPr algn="l">
              <a:lnSpc>
                <a:spcPct val="104000"/>
              </a:lnSpc>
              <a:spcBef>
                <a:spcPts val="0"/>
              </a:spcBef>
              <a:spcAft>
                <a:spcPts val="700"/>
              </a:spcAft>
            </a:pPr>
            <a:r>
              <a:rPr sz="1250" b="0" i="0">
                <a:solidFill>
                  <a:srgbClr val="9AA3B5"/>
                </a:solidFill>
                <a:latin typeface="Calibri"/>
              </a:rPr>
              <a:t>Find the ones quietly losing you money.</a:t>
            </a:r>
          </a:p>
        </p:txBody>
      </p:sp>
      <p:sp>
        <p:nvSpPr>
          <p:cNvPr id="10" name="Rounded Rectangle 9"/>
          <p:cNvSpPr/>
          <p:nvPr/>
        </p:nvSpPr>
        <p:spPr>
          <a:xfrm>
            <a:off x="4462271" y="2514600"/>
            <a:ext cx="3456432"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36591" y="2770632"/>
            <a:ext cx="2907791" cy="1024128"/>
          </a:xfrm>
          <a:prstGeom prst="rect">
            <a:avLst/>
          </a:prstGeom>
          <a:noFill/>
        </p:spPr>
        <p:txBody>
          <a:bodyPr wrap="square" anchor="t" lIns="0" rIns="0" tIns="0" bIns="0">
            <a:spAutoFit/>
          </a:bodyPr>
          <a:lstStyle/>
          <a:p>
            <a:pPr algn="l">
              <a:lnSpc>
                <a:spcPct val="104000"/>
              </a:lnSpc>
              <a:spcBef>
                <a:spcPts val="0"/>
              </a:spcBef>
              <a:spcAft>
                <a:spcPts val="700"/>
              </a:spcAft>
            </a:pPr>
            <a:r>
              <a:rPr sz="1500" b="1" i="0">
                <a:solidFill>
                  <a:srgbClr val="E7EBF2"/>
                </a:solidFill>
                <a:latin typeface="Calibri"/>
              </a:rPr>
              <a:t>When are you really busiest?</a:t>
            </a:r>
          </a:p>
          <a:p>
            <a:pPr algn="l">
              <a:lnSpc>
                <a:spcPct val="104000"/>
              </a:lnSpc>
              <a:spcBef>
                <a:spcPts val="0"/>
              </a:spcBef>
              <a:spcAft>
                <a:spcPts val="700"/>
              </a:spcAft>
            </a:pPr>
            <a:r>
              <a:rPr sz="1250" b="0" i="0">
                <a:solidFill>
                  <a:srgbClr val="9AA3B5"/>
                </a:solidFill>
                <a:latin typeface="Calibri"/>
              </a:rPr>
              <a:t>Staff for real demand — stop over- and under-booking.</a:t>
            </a:r>
          </a:p>
        </p:txBody>
      </p:sp>
      <p:sp>
        <p:nvSpPr>
          <p:cNvPr id="12" name="Rounded Rectangle 11"/>
          <p:cNvSpPr/>
          <p:nvPr/>
        </p:nvSpPr>
        <p:spPr>
          <a:xfrm>
            <a:off x="8375903" y="2514600"/>
            <a:ext cx="3456432"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0224" y="2770632"/>
            <a:ext cx="2907791" cy="1024128"/>
          </a:xfrm>
          <a:prstGeom prst="rect">
            <a:avLst/>
          </a:prstGeom>
          <a:noFill/>
        </p:spPr>
        <p:txBody>
          <a:bodyPr wrap="square" anchor="t" lIns="0" rIns="0" tIns="0" bIns="0">
            <a:spAutoFit/>
          </a:bodyPr>
          <a:lstStyle/>
          <a:p>
            <a:pPr algn="l">
              <a:lnSpc>
                <a:spcPct val="104000"/>
              </a:lnSpc>
              <a:spcBef>
                <a:spcPts val="0"/>
              </a:spcBef>
              <a:spcAft>
                <a:spcPts val="700"/>
              </a:spcAft>
            </a:pPr>
            <a:r>
              <a:rPr sz="1500" b="1" i="0">
                <a:solidFill>
                  <a:srgbClr val="E7EBF2"/>
                </a:solidFill>
                <a:latin typeface="Calibri"/>
              </a:rPr>
              <a:t>Which customers come back?</a:t>
            </a:r>
          </a:p>
          <a:p>
            <a:pPr algn="l">
              <a:lnSpc>
                <a:spcPct val="104000"/>
              </a:lnSpc>
              <a:spcBef>
                <a:spcPts val="0"/>
              </a:spcBef>
              <a:spcAft>
                <a:spcPts val="700"/>
              </a:spcAft>
            </a:pPr>
            <a:r>
              <a:rPr sz="1250" b="0" i="0">
                <a:solidFill>
                  <a:srgbClr val="9AA3B5"/>
                </a:solidFill>
                <a:latin typeface="Calibri"/>
              </a:rPr>
              <a:t>Protect the revenue you already have.</a:t>
            </a:r>
          </a:p>
        </p:txBody>
      </p:sp>
      <p:sp>
        <p:nvSpPr>
          <p:cNvPr id="14" name="Rounded Rectangle 13"/>
          <p:cNvSpPr/>
          <p:nvPr/>
        </p:nvSpPr>
        <p:spPr>
          <a:xfrm>
            <a:off x="548640" y="4270248"/>
            <a:ext cx="3456432"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526280"/>
            <a:ext cx="2907791" cy="1024128"/>
          </a:xfrm>
          <a:prstGeom prst="rect">
            <a:avLst/>
          </a:prstGeom>
          <a:noFill/>
        </p:spPr>
        <p:txBody>
          <a:bodyPr wrap="square" anchor="t" lIns="0" rIns="0" tIns="0" bIns="0">
            <a:spAutoFit/>
          </a:bodyPr>
          <a:lstStyle/>
          <a:p>
            <a:pPr algn="l">
              <a:lnSpc>
                <a:spcPct val="104000"/>
              </a:lnSpc>
              <a:spcBef>
                <a:spcPts val="0"/>
              </a:spcBef>
              <a:spcAft>
                <a:spcPts val="700"/>
              </a:spcAft>
            </a:pPr>
            <a:r>
              <a:rPr sz="1500" b="1" i="0">
                <a:solidFill>
                  <a:srgbClr val="E7EBF2"/>
                </a:solidFill>
                <a:latin typeface="Calibri"/>
              </a:rPr>
              <a:t>Is your marketing working?</a:t>
            </a:r>
          </a:p>
          <a:p>
            <a:pPr algn="l">
              <a:lnSpc>
                <a:spcPct val="104000"/>
              </a:lnSpc>
              <a:spcBef>
                <a:spcPts val="0"/>
              </a:spcBef>
              <a:spcAft>
                <a:spcPts val="700"/>
              </a:spcAft>
            </a:pPr>
            <a:r>
              <a:rPr sz="1250" b="0" i="0">
                <a:solidFill>
                  <a:srgbClr val="9AA3B5"/>
                </a:solidFill>
                <a:latin typeface="Calibri"/>
              </a:rPr>
              <a:t>See which channels bring paying customers, not just clicks.</a:t>
            </a:r>
          </a:p>
        </p:txBody>
      </p:sp>
      <p:sp>
        <p:nvSpPr>
          <p:cNvPr id="16" name="Rounded Rectangle 15"/>
          <p:cNvSpPr/>
          <p:nvPr/>
        </p:nvSpPr>
        <p:spPr>
          <a:xfrm>
            <a:off x="4462271" y="4270248"/>
            <a:ext cx="3456432"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6591" y="4526280"/>
            <a:ext cx="2907791" cy="1024128"/>
          </a:xfrm>
          <a:prstGeom prst="rect">
            <a:avLst/>
          </a:prstGeom>
          <a:noFill/>
        </p:spPr>
        <p:txBody>
          <a:bodyPr wrap="square" anchor="t" lIns="0" rIns="0" tIns="0" bIns="0">
            <a:spAutoFit/>
          </a:bodyPr>
          <a:lstStyle/>
          <a:p>
            <a:pPr algn="l">
              <a:lnSpc>
                <a:spcPct val="104000"/>
              </a:lnSpc>
              <a:spcBef>
                <a:spcPts val="0"/>
              </a:spcBef>
              <a:spcAft>
                <a:spcPts val="700"/>
              </a:spcAft>
            </a:pPr>
            <a:r>
              <a:rPr sz="1500" b="1" i="0">
                <a:solidFill>
                  <a:srgbClr val="E7EBF2"/>
                </a:solidFill>
                <a:latin typeface="Calibri"/>
              </a:rPr>
              <a:t>Where is cash leaking?</a:t>
            </a:r>
          </a:p>
          <a:p>
            <a:pPr algn="l">
              <a:lnSpc>
                <a:spcPct val="104000"/>
              </a:lnSpc>
              <a:spcBef>
                <a:spcPts val="0"/>
              </a:spcBef>
              <a:spcAft>
                <a:spcPts val="700"/>
              </a:spcAft>
            </a:pPr>
            <a:r>
              <a:rPr sz="1250" b="0" i="0">
                <a:solidFill>
                  <a:srgbClr val="9AA3B5"/>
                </a:solidFill>
                <a:latin typeface="Calibri"/>
              </a:rPr>
              <a:t>Refunds, no-shows and discounts that quietly add up.</a:t>
            </a:r>
          </a:p>
        </p:txBody>
      </p:sp>
      <p:sp>
        <p:nvSpPr>
          <p:cNvPr id="18" name="Rounded Rectangle 17"/>
          <p:cNvSpPr/>
          <p:nvPr/>
        </p:nvSpPr>
        <p:spPr>
          <a:xfrm>
            <a:off x="8375903" y="4270248"/>
            <a:ext cx="3456432" cy="1481328"/>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50224" y="4526280"/>
            <a:ext cx="2907791" cy="1024128"/>
          </a:xfrm>
          <a:prstGeom prst="rect">
            <a:avLst/>
          </a:prstGeom>
          <a:noFill/>
        </p:spPr>
        <p:txBody>
          <a:bodyPr wrap="square" anchor="t" lIns="0" rIns="0" tIns="0" bIns="0">
            <a:spAutoFit/>
          </a:bodyPr>
          <a:lstStyle/>
          <a:p>
            <a:pPr algn="l">
              <a:lnSpc>
                <a:spcPct val="104000"/>
              </a:lnSpc>
              <a:spcBef>
                <a:spcPts val="0"/>
              </a:spcBef>
              <a:spcAft>
                <a:spcPts val="700"/>
              </a:spcAft>
            </a:pPr>
            <a:r>
              <a:rPr sz="1500" b="1" i="0">
                <a:solidFill>
                  <a:srgbClr val="E7EBF2"/>
                </a:solidFill>
                <a:latin typeface="Calibri"/>
              </a:rPr>
              <a:t>Are you actually growing?</a:t>
            </a:r>
          </a:p>
          <a:p>
            <a:pPr algn="l">
              <a:lnSpc>
                <a:spcPct val="104000"/>
              </a:lnSpc>
              <a:spcBef>
                <a:spcPts val="0"/>
              </a:spcBef>
              <a:spcAft>
                <a:spcPts val="700"/>
              </a:spcAft>
            </a:pPr>
            <a:r>
              <a:rPr sz="1250" b="0" i="0">
                <a:solidFill>
                  <a:srgbClr val="9AA3B5"/>
                </a:solidFill>
                <a:latin typeface="Calibri"/>
              </a:rPr>
              <a:t>The real trend under the month-to-month noise.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14300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PRICING</a:t>
            </a:r>
          </a:p>
        </p:txBody>
      </p:sp>
      <p:sp>
        <p:nvSpPr>
          <p:cNvPr id="7" name="TextBox 6"/>
          <p:cNvSpPr txBox="1"/>
          <p:nvPr/>
        </p:nvSpPr>
        <p:spPr>
          <a:xfrm>
            <a:off x="530352" y="1463040"/>
            <a:ext cx="10972800" cy="8229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Simple pricing — pick your level</a:t>
            </a:r>
          </a:p>
        </p:txBody>
      </p:sp>
      <p:sp>
        <p:nvSpPr>
          <p:cNvPr id="8" name="Rounded Rectangle 7"/>
          <p:cNvSpPr/>
          <p:nvPr/>
        </p:nvSpPr>
        <p:spPr>
          <a:xfrm>
            <a:off x="548640" y="2651760"/>
            <a:ext cx="3566160" cy="27432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71800"/>
            <a:ext cx="2834639" cy="36576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E7EBF2"/>
                </a:solidFill>
                <a:latin typeface="Calibri"/>
              </a:rPr>
              <a:t>Insight Report</a:t>
            </a:r>
          </a:p>
        </p:txBody>
      </p:sp>
      <p:sp>
        <p:nvSpPr>
          <p:cNvPr id="10" name="TextBox 9"/>
          <p:cNvSpPr txBox="1"/>
          <p:nvPr/>
        </p:nvSpPr>
        <p:spPr>
          <a:xfrm>
            <a:off x="914400" y="3364991"/>
            <a:ext cx="2834639"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7484"/>
                </a:solidFill>
                <a:latin typeface="Consolas"/>
              </a:rPr>
              <a:t>ONE-OFF</a:t>
            </a:r>
          </a:p>
        </p:txBody>
      </p:sp>
      <p:sp>
        <p:nvSpPr>
          <p:cNvPr id="11" name="TextBox 10"/>
          <p:cNvSpPr txBox="1"/>
          <p:nvPr/>
        </p:nvSpPr>
        <p:spPr>
          <a:xfrm>
            <a:off x="914400" y="3703320"/>
            <a:ext cx="2834639" cy="640080"/>
          </a:xfrm>
          <a:prstGeom prst="rect">
            <a:avLst/>
          </a:prstGeom>
          <a:noFill/>
        </p:spPr>
        <p:txBody>
          <a:bodyPr wrap="square" anchor="ctr" lIns="0" rIns="0" tIns="0" bIns="0">
            <a:spAutoFit/>
          </a:bodyPr>
          <a:lstStyle/>
          <a:p>
            <a:pPr algn="l">
              <a:lnSpc>
                <a:spcPct val="100000"/>
              </a:lnSpc>
              <a:spcBef>
                <a:spcPts val="0"/>
              </a:spcBef>
              <a:spcAft>
                <a:spcPts val="0"/>
              </a:spcAft>
            </a:pPr>
            <a:r>
              <a:rPr sz="3000" b="1" i="0">
                <a:solidFill>
                  <a:srgbClr val="E7EBF2"/>
                </a:solidFill>
                <a:latin typeface="Calibri"/>
              </a:rPr>
              <a:t>$300–900</a:t>
            </a:r>
            <a:r>
              <a:rPr sz="1300" b="0" i="0">
                <a:solidFill>
                  <a:srgbClr val="9AA3B5"/>
                </a:solidFill>
                <a:latin typeface="Calibri"/>
              </a:rPr>
              <a:t/>
            </a:r>
          </a:p>
        </p:txBody>
      </p:sp>
      <p:sp>
        <p:nvSpPr>
          <p:cNvPr id="12" name="Rectangle 11"/>
          <p:cNvSpPr/>
          <p:nvPr/>
        </p:nvSpPr>
        <p:spPr>
          <a:xfrm>
            <a:off x="914400" y="4434840"/>
            <a:ext cx="2834639" cy="9144"/>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617720"/>
            <a:ext cx="2834639" cy="685800"/>
          </a:xfrm>
          <a:prstGeom prst="rect">
            <a:avLst/>
          </a:prstGeom>
          <a:noFill/>
        </p:spPr>
        <p:txBody>
          <a:bodyPr wrap="square" anchor="t" lIns="0" rIns="0" tIns="0" bIns="0">
            <a:spAutoFit/>
          </a:bodyPr>
          <a:lstStyle/>
          <a:p>
            <a:pPr algn="l">
              <a:lnSpc>
                <a:spcPct val="110000"/>
              </a:lnSpc>
              <a:spcBef>
                <a:spcPts val="0"/>
              </a:spcBef>
              <a:spcAft>
                <a:spcPts val="0"/>
              </a:spcAft>
            </a:pPr>
            <a:r>
              <a:rPr sz="1300" b="0" i="0">
                <a:solidFill>
                  <a:srgbClr val="9AA3B5"/>
                </a:solidFill>
                <a:latin typeface="Calibri"/>
              </a:rPr>
              <a:t>A deep-dive report answering your top 5 questions. The perfect first step.</a:t>
            </a:r>
          </a:p>
        </p:txBody>
      </p:sp>
      <p:sp>
        <p:nvSpPr>
          <p:cNvPr id="14" name="Rounded Rectangle 13"/>
          <p:cNvSpPr/>
          <p:nvPr/>
        </p:nvSpPr>
        <p:spPr>
          <a:xfrm>
            <a:off x="4434840" y="2651760"/>
            <a:ext cx="3566160" cy="2743200"/>
          </a:xfrm>
          <a:prstGeom prst="roundRect">
            <a:avLst>
              <a:gd name="adj" fmla="val 5500"/>
            </a:avLst>
          </a:prstGeom>
          <a:solidFill>
            <a:srgbClr val="13213F"/>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2505456"/>
            <a:ext cx="1417320" cy="384048"/>
          </a:xfrm>
          <a:prstGeom prst="roundRect">
            <a:avLst>
              <a:gd name="adj" fmla="val 5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505456"/>
            <a:ext cx="1417320" cy="384048"/>
          </a:xfrm>
          <a:prstGeom prst="rect">
            <a:avLst/>
          </a:prstGeom>
          <a:noFill/>
        </p:spPr>
        <p:txBody>
          <a:bodyPr wrap="square" anchor="ctr" lIns="0" rIns="0" tIns="0" bIns="0">
            <a:spAutoFit/>
          </a:bodyPr>
          <a:lstStyle/>
          <a:p>
            <a:pPr algn="ctr">
              <a:lnSpc>
                <a:spcPct val="100000"/>
              </a:lnSpc>
              <a:spcBef>
                <a:spcPts val="0"/>
              </a:spcBef>
              <a:spcAft>
                <a:spcPts val="0"/>
              </a:spcAft>
            </a:pPr>
            <a:r>
              <a:rPr sz="950" b="1" i="0">
                <a:solidFill>
                  <a:srgbClr val="FFFFFF"/>
                </a:solidFill>
                <a:latin typeface="Consolas"/>
              </a:rPr>
              <a:t>MOST POPULAR</a:t>
            </a:r>
          </a:p>
        </p:txBody>
      </p:sp>
      <p:sp>
        <p:nvSpPr>
          <p:cNvPr id="17" name="TextBox 16"/>
          <p:cNvSpPr txBox="1"/>
          <p:nvPr/>
        </p:nvSpPr>
        <p:spPr>
          <a:xfrm>
            <a:off x="4800600" y="2971800"/>
            <a:ext cx="2834639" cy="36576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E7EBF2"/>
                </a:solidFill>
                <a:latin typeface="Calibri"/>
              </a:rPr>
              <a:t>Monthly Partner</a:t>
            </a:r>
          </a:p>
        </p:txBody>
      </p:sp>
      <p:sp>
        <p:nvSpPr>
          <p:cNvPr id="18" name="TextBox 17"/>
          <p:cNvSpPr txBox="1"/>
          <p:nvPr/>
        </p:nvSpPr>
        <p:spPr>
          <a:xfrm>
            <a:off x="4800600" y="3364991"/>
            <a:ext cx="2834639"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8EA4D6"/>
                </a:solidFill>
                <a:latin typeface="Consolas"/>
              </a:rPr>
              <a:t>ONGOING</a:t>
            </a:r>
          </a:p>
        </p:txBody>
      </p:sp>
      <p:sp>
        <p:nvSpPr>
          <p:cNvPr id="19" name="TextBox 18"/>
          <p:cNvSpPr txBox="1"/>
          <p:nvPr/>
        </p:nvSpPr>
        <p:spPr>
          <a:xfrm>
            <a:off x="4800600" y="3703320"/>
            <a:ext cx="2834639" cy="640080"/>
          </a:xfrm>
          <a:prstGeom prst="rect">
            <a:avLst/>
          </a:prstGeom>
          <a:noFill/>
        </p:spPr>
        <p:txBody>
          <a:bodyPr wrap="square" anchor="ctr" lIns="0" rIns="0" tIns="0" bIns="0">
            <a:spAutoFit/>
          </a:bodyPr>
          <a:lstStyle/>
          <a:p>
            <a:pPr algn="l">
              <a:lnSpc>
                <a:spcPct val="100000"/>
              </a:lnSpc>
              <a:spcBef>
                <a:spcPts val="0"/>
              </a:spcBef>
              <a:spcAft>
                <a:spcPts val="0"/>
              </a:spcAft>
            </a:pPr>
            <a:r>
              <a:rPr sz="3000" b="1" i="0">
                <a:solidFill>
                  <a:srgbClr val="2F6BFF"/>
                </a:solidFill>
                <a:latin typeface="Calibri"/>
              </a:rPr>
              <a:t>$300–1,200</a:t>
            </a:r>
            <a:r>
              <a:rPr sz="1300" b="0" i="0">
                <a:solidFill>
                  <a:srgbClr val="9AA3B5"/>
                </a:solidFill>
                <a:latin typeface="Calibri"/>
              </a:rPr>
              <a:t> / mo</a:t>
            </a:r>
          </a:p>
        </p:txBody>
      </p:sp>
      <p:sp>
        <p:nvSpPr>
          <p:cNvPr id="20" name="Rectangle 19"/>
          <p:cNvSpPr/>
          <p:nvPr/>
        </p:nvSpPr>
        <p:spPr>
          <a:xfrm>
            <a:off x="4800600" y="4434840"/>
            <a:ext cx="2834639" cy="9144"/>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4617720"/>
            <a:ext cx="2834639" cy="685800"/>
          </a:xfrm>
          <a:prstGeom prst="rect">
            <a:avLst/>
          </a:prstGeom>
          <a:noFill/>
        </p:spPr>
        <p:txBody>
          <a:bodyPr wrap="square" anchor="t" lIns="0" rIns="0" tIns="0" bIns="0">
            <a:spAutoFit/>
          </a:bodyPr>
          <a:lstStyle/>
          <a:p>
            <a:pPr algn="l">
              <a:lnSpc>
                <a:spcPct val="110000"/>
              </a:lnSpc>
              <a:spcBef>
                <a:spcPts val="0"/>
              </a:spcBef>
              <a:spcAft>
                <a:spcPts val="0"/>
              </a:spcAft>
            </a:pPr>
            <a:r>
              <a:rPr sz="1300" b="0" i="0">
                <a:solidFill>
                  <a:srgbClr val="9AA3B5"/>
                </a:solidFill>
                <a:latin typeface="Calibri"/>
              </a:rPr>
              <a:t>Ongoing monthly reporting plus ask-me-anything. Your fractional analyst.</a:t>
            </a:r>
          </a:p>
        </p:txBody>
      </p:sp>
      <p:sp>
        <p:nvSpPr>
          <p:cNvPr id="22" name="Rounded Rectangle 21"/>
          <p:cNvSpPr/>
          <p:nvPr/>
        </p:nvSpPr>
        <p:spPr>
          <a:xfrm>
            <a:off x="8321040" y="2651760"/>
            <a:ext cx="3566160" cy="2743200"/>
          </a:xfrm>
          <a:prstGeom prst="roundRect">
            <a:avLst>
              <a:gd name="adj" fmla="val 5500"/>
            </a:avLst>
          </a:prstGeom>
          <a:solidFill>
            <a:srgbClr val="161C28"/>
          </a:solidFill>
          <a:ln w="12700">
            <a:solidFill>
              <a:srgbClr val="23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0" y="2971800"/>
            <a:ext cx="2834639" cy="36576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E7EBF2"/>
                </a:solidFill>
                <a:latin typeface="Calibri"/>
              </a:rPr>
              <a:t>Custom Setup</a:t>
            </a:r>
          </a:p>
        </p:txBody>
      </p:sp>
      <p:sp>
        <p:nvSpPr>
          <p:cNvPr id="24" name="TextBox 23"/>
          <p:cNvSpPr txBox="1"/>
          <p:nvPr/>
        </p:nvSpPr>
        <p:spPr>
          <a:xfrm>
            <a:off x="8686800" y="3364991"/>
            <a:ext cx="2834639"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7484"/>
                </a:solidFill>
                <a:latin typeface="Consolas"/>
              </a:rPr>
              <a:t>FROM</a:t>
            </a:r>
          </a:p>
        </p:txBody>
      </p:sp>
      <p:sp>
        <p:nvSpPr>
          <p:cNvPr id="25" name="TextBox 24"/>
          <p:cNvSpPr txBox="1"/>
          <p:nvPr/>
        </p:nvSpPr>
        <p:spPr>
          <a:xfrm>
            <a:off x="8686800" y="3703320"/>
            <a:ext cx="2834639" cy="640080"/>
          </a:xfrm>
          <a:prstGeom prst="rect">
            <a:avLst/>
          </a:prstGeom>
          <a:noFill/>
        </p:spPr>
        <p:txBody>
          <a:bodyPr wrap="square" anchor="ctr" lIns="0" rIns="0" tIns="0" bIns="0">
            <a:spAutoFit/>
          </a:bodyPr>
          <a:lstStyle/>
          <a:p>
            <a:pPr algn="l">
              <a:lnSpc>
                <a:spcPct val="100000"/>
              </a:lnSpc>
              <a:spcBef>
                <a:spcPts val="0"/>
              </a:spcBef>
              <a:spcAft>
                <a:spcPts val="0"/>
              </a:spcAft>
            </a:pPr>
            <a:r>
              <a:rPr sz="3000" b="1" i="0">
                <a:solidFill>
                  <a:srgbClr val="E7EBF2"/>
                </a:solidFill>
                <a:latin typeface="Calibri"/>
              </a:rPr>
              <a:t>$1,500+</a:t>
            </a:r>
            <a:r>
              <a:rPr sz="1300" b="0" i="0">
                <a:solidFill>
                  <a:srgbClr val="9AA3B5"/>
                </a:solidFill>
                <a:latin typeface="Calibri"/>
              </a:rPr>
              <a:t/>
            </a:r>
          </a:p>
        </p:txBody>
      </p:sp>
      <p:sp>
        <p:nvSpPr>
          <p:cNvPr id="26" name="Rectangle 25"/>
          <p:cNvSpPr/>
          <p:nvPr/>
        </p:nvSpPr>
        <p:spPr>
          <a:xfrm>
            <a:off x="8686800" y="4434840"/>
            <a:ext cx="2834639" cy="9144"/>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4617720"/>
            <a:ext cx="2834639" cy="685800"/>
          </a:xfrm>
          <a:prstGeom prst="rect">
            <a:avLst/>
          </a:prstGeom>
          <a:noFill/>
        </p:spPr>
        <p:txBody>
          <a:bodyPr wrap="square" anchor="t" lIns="0" rIns="0" tIns="0" bIns="0">
            <a:spAutoFit/>
          </a:bodyPr>
          <a:lstStyle/>
          <a:p>
            <a:pPr algn="l">
              <a:lnSpc>
                <a:spcPct val="110000"/>
              </a:lnSpc>
              <a:spcBef>
                <a:spcPts val="0"/>
              </a:spcBef>
              <a:spcAft>
                <a:spcPts val="0"/>
              </a:spcAft>
            </a:pPr>
            <a:r>
              <a:rPr sz="1300" b="0" i="0">
                <a:solidFill>
                  <a:srgbClr val="9AA3B5"/>
                </a:solidFill>
                <a:latin typeface="Calibri"/>
              </a:rPr>
              <a:t>Your own branded Quarry, configured on your data and handed to your team.</a:t>
            </a:r>
          </a:p>
        </p:txBody>
      </p:sp>
      <p:sp>
        <p:nvSpPr>
          <p:cNvPr id="28" name="TextBox 27"/>
          <p:cNvSpPr txBox="1"/>
          <p:nvPr/>
        </p:nvSpPr>
        <p:spPr>
          <a:xfrm>
            <a:off x="548640" y="5806440"/>
            <a:ext cx="10972800" cy="365760"/>
          </a:xfrm>
          <a:prstGeom prst="rect">
            <a:avLst/>
          </a:prstGeom>
          <a:noFill/>
        </p:spPr>
        <p:txBody>
          <a:bodyPr wrap="square" anchor="t" lIns="0" rIns="0" tIns="0" bIns="0">
            <a:spAutoFit/>
          </a:bodyPr>
          <a:lstStyle/>
          <a:p>
            <a:pPr algn="l">
              <a:lnSpc>
                <a:spcPct val="100000"/>
              </a:lnSpc>
              <a:spcBef>
                <a:spcPts val="0"/>
              </a:spcBef>
              <a:spcAft>
                <a:spcPts val="0"/>
              </a:spcAft>
            </a:pPr>
            <a:r>
              <a:rPr sz="1450" b="0" i="1">
                <a:solidFill>
                  <a:srgbClr val="8EA4D6"/>
                </a:solidFill>
                <a:latin typeface="Calibri"/>
              </a:rPr>
              <a:t>No lock-in. Start with one report; upgrade only if it earns its keep.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1234440"/>
            <a:ext cx="73152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2F6BFF"/>
                </a:solidFill>
                <a:latin typeface="Consolas"/>
              </a:rPr>
              <a:t>WHY ME</a:t>
            </a:r>
          </a:p>
        </p:txBody>
      </p:sp>
      <p:sp>
        <p:nvSpPr>
          <p:cNvPr id="7" name="TextBox 6"/>
          <p:cNvSpPr txBox="1"/>
          <p:nvPr/>
        </p:nvSpPr>
        <p:spPr>
          <a:xfrm>
            <a:off x="530352" y="1572768"/>
            <a:ext cx="10972800" cy="822960"/>
          </a:xfrm>
          <a:prstGeom prst="rect">
            <a:avLst/>
          </a:prstGeom>
          <a:noFill/>
        </p:spPr>
        <p:txBody>
          <a:bodyPr wrap="square" anchor="t" lIns="0" rIns="0" tIns="0" bIns="0">
            <a:spAutoFit/>
          </a:bodyPr>
          <a:lstStyle/>
          <a:p>
            <a:pPr algn="l">
              <a:lnSpc>
                <a:spcPct val="100000"/>
              </a:lnSpc>
              <a:spcBef>
                <a:spcPts val="0"/>
              </a:spcBef>
              <a:spcAft>
                <a:spcPts val="0"/>
              </a:spcAft>
            </a:pPr>
            <a:r>
              <a:rPr sz="3600" b="1" i="0">
                <a:solidFill>
                  <a:srgbClr val="E7EBF2"/>
                </a:solidFill>
                <a:latin typeface="Calibri"/>
              </a:rPr>
              <a:t>Why work with me</a:t>
            </a:r>
          </a:p>
        </p:txBody>
      </p:sp>
      <p:sp>
        <p:nvSpPr>
          <p:cNvPr id="8" name="Rounded Rectangle 7"/>
          <p:cNvSpPr/>
          <p:nvPr/>
        </p:nvSpPr>
        <p:spPr>
          <a:xfrm>
            <a:off x="548640" y="2697480"/>
            <a:ext cx="512064" cy="512064"/>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697480"/>
            <a:ext cx="512064" cy="512064"/>
          </a:xfrm>
          <a:prstGeom prst="rect">
            <a:avLst/>
          </a:prstGeom>
          <a:noFill/>
        </p:spPr>
        <p:txBody>
          <a:bodyPr wrap="square" anchor="ctr" lIns="0" rIns="0" tIns="0" bIns="0">
            <a:spAutoFit/>
          </a:bodyPr>
          <a:lstStyle/>
          <a:p>
            <a:pPr algn="ctr">
              <a:lnSpc>
                <a:spcPct val="100000"/>
              </a:lnSpc>
              <a:spcBef>
                <a:spcPts val="0"/>
              </a:spcBef>
              <a:spcAft>
                <a:spcPts val="0"/>
              </a:spcAft>
            </a:pPr>
            <a:r>
              <a:rPr sz="1700" b="1" i="0">
                <a:solidFill>
                  <a:srgbClr val="FFFFFF"/>
                </a:solidFill>
                <a:latin typeface="Consolas"/>
              </a:rPr>
              <a:t>1</a:t>
            </a:r>
          </a:p>
        </p:txBody>
      </p:sp>
      <p:sp>
        <p:nvSpPr>
          <p:cNvPr id="10" name="TextBox 9"/>
          <p:cNvSpPr txBox="1"/>
          <p:nvPr/>
        </p:nvSpPr>
        <p:spPr>
          <a:xfrm>
            <a:off x="1280160" y="2660904"/>
            <a:ext cx="3200400" cy="548640"/>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E7EBF2"/>
                </a:solidFill>
                <a:latin typeface="Calibri"/>
              </a:rPr>
              <a:t>Cheaper than a hire</a:t>
            </a:r>
          </a:p>
        </p:txBody>
      </p:sp>
      <p:sp>
        <p:nvSpPr>
          <p:cNvPr id="11" name="TextBox 10"/>
          <p:cNvSpPr txBox="1"/>
          <p:nvPr/>
        </p:nvSpPr>
        <p:spPr>
          <a:xfrm>
            <a:off x="4572000" y="2660904"/>
            <a:ext cx="7040880" cy="594360"/>
          </a:xfrm>
          <a:prstGeom prst="rect">
            <a:avLst/>
          </a:prstGeom>
          <a:noFill/>
        </p:spPr>
        <p:txBody>
          <a:bodyPr wrap="square" anchor="ctr" lIns="0" rIns="0" tIns="0" bIns="0">
            <a:spAutoFit/>
          </a:bodyPr>
          <a:lstStyle/>
          <a:p>
            <a:pPr algn="l">
              <a:lnSpc>
                <a:spcPct val="105000"/>
              </a:lnSpc>
              <a:spcBef>
                <a:spcPts val="0"/>
              </a:spcBef>
              <a:spcAft>
                <a:spcPts val="0"/>
              </a:spcAft>
            </a:pPr>
            <a:r>
              <a:rPr sz="1450" b="0" i="0">
                <a:solidFill>
                  <a:srgbClr val="9AA3B5"/>
                </a:solidFill>
                <a:latin typeface="Calibri"/>
              </a:rPr>
              <a:t>A fraction of a salary, none of the overhead.</a:t>
            </a:r>
          </a:p>
        </p:txBody>
      </p:sp>
      <p:sp>
        <p:nvSpPr>
          <p:cNvPr id="12" name="Rectangle 11"/>
          <p:cNvSpPr/>
          <p:nvPr/>
        </p:nvSpPr>
        <p:spPr>
          <a:xfrm>
            <a:off x="1280160" y="3447288"/>
            <a:ext cx="10332720" cy="9144"/>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611880"/>
            <a:ext cx="512064" cy="512064"/>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11880"/>
            <a:ext cx="512064" cy="512064"/>
          </a:xfrm>
          <a:prstGeom prst="rect">
            <a:avLst/>
          </a:prstGeom>
          <a:noFill/>
        </p:spPr>
        <p:txBody>
          <a:bodyPr wrap="square" anchor="ctr" lIns="0" rIns="0" tIns="0" bIns="0">
            <a:spAutoFit/>
          </a:bodyPr>
          <a:lstStyle/>
          <a:p>
            <a:pPr algn="ctr">
              <a:lnSpc>
                <a:spcPct val="100000"/>
              </a:lnSpc>
              <a:spcBef>
                <a:spcPts val="0"/>
              </a:spcBef>
              <a:spcAft>
                <a:spcPts val="0"/>
              </a:spcAft>
            </a:pPr>
            <a:r>
              <a:rPr sz="1700" b="1" i="0">
                <a:solidFill>
                  <a:srgbClr val="FFFFFF"/>
                </a:solidFill>
                <a:latin typeface="Consolas"/>
              </a:rPr>
              <a:t>2</a:t>
            </a:r>
          </a:p>
        </p:txBody>
      </p:sp>
      <p:sp>
        <p:nvSpPr>
          <p:cNvPr id="15" name="TextBox 14"/>
          <p:cNvSpPr txBox="1"/>
          <p:nvPr/>
        </p:nvSpPr>
        <p:spPr>
          <a:xfrm>
            <a:off x="1280160" y="3575304"/>
            <a:ext cx="3200400" cy="548640"/>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E7EBF2"/>
                </a:solidFill>
                <a:latin typeface="Calibri"/>
              </a:rPr>
              <a:t>Fast</a:t>
            </a:r>
          </a:p>
        </p:txBody>
      </p:sp>
      <p:sp>
        <p:nvSpPr>
          <p:cNvPr id="16" name="TextBox 15"/>
          <p:cNvSpPr txBox="1"/>
          <p:nvPr/>
        </p:nvSpPr>
        <p:spPr>
          <a:xfrm>
            <a:off x="4572000" y="3575304"/>
            <a:ext cx="7040880" cy="594360"/>
          </a:xfrm>
          <a:prstGeom prst="rect">
            <a:avLst/>
          </a:prstGeom>
          <a:noFill/>
        </p:spPr>
        <p:txBody>
          <a:bodyPr wrap="square" anchor="ctr" lIns="0" rIns="0" tIns="0" bIns="0">
            <a:spAutoFit/>
          </a:bodyPr>
          <a:lstStyle/>
          <a:p>
            <a:pPr algn="l">
              <a:lnSpc>
                <a:spcPct val="105000"/>
              </a:lnSpc>
              <a:spcBef>
                <a:spcPts val="0"/>
              </a:spcBef>
              <a:spcAft>
                <a:spcPts val="0"/>
              </a:spcAft>
            </a:pPr>
            <a:r>
              <a:rPr sz="1450" b="0" i="0">
                <a:solidFill>
                  <a:srgbClr val="9AA3B5"/>
                </a:solidFill>
                <a:latin typeface="Calibri"/>
              </a:rPr>
              <a:t>I've built my own tooling, so you get answers in days, not weeks.</a:t>
            </a:r>
          </a:p>
        </p:txBody>
      </p:sp>
      <p:sp>
        <p:nvSpPr>
          <p:cNvPr id="17" name="Rectangle 16"/>
          <p:cNvSpPr/>
          <p:nvPr/>
        </p:nvSpPr>
        <p:spPr>
          <a:xfrm>
            <a:off x="1280160" y="4361688"/>
            <a:ext cx="10332720" cy="9144"/>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4526280"/>
            <a:ext cx="512064" cy="512064"/>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26280"/>
            <a:ext cx="512064" cy="512064"/>
          </a:xfrm>
          <a:prstGeom prst="rect">
            <a:avLst/>
          </a:prstGeom>
          <a:noFill/>
        </p:spPr>
        <p:txBody>
          <a:bodyPr wrap="square" anchor="ctr" lIns="0" rIns="0" tIns="0" bIns="0">
            <a:spAutoFit/>
          </a:bodyPr>
          <a:lstStyle/>
          <a:p>
            <a:pPr algn="ctr">
              <a:lnSpc>
                <a:spcPct val="100000"/>
              </a:lnSpc>
              <a:spcBef>
                <a:spcPts val="0"/>
              </a:spcBef>
              <a:spcAft>
                <a:spcPts val="0"/>
              </a:spcAft>
            </a:pPr>
            <a:r>
              <a:rPr sz="1700" b="1" i="0">
                <a:solidFill>
                  <a:srgbClr val="FFFFFF"/>
                </a:solidFill>
                <a:latin typeface="Consolas"/>
              </a:rPr>
              <a:t>3</a:t>
            </a:r>
          </a:p>
        </p:txBody>
      </p:sp>
      <p:sp>
        <p:nvSpPr>
          <p:cNvPr id="20" name="TextBox 19"/>
          <p:cNvSpPr txBox="1"/>
          <p:nvPr/>
        </p:nvSpPr>
        <p:spPr>
          <a:xfrm>
            <a:off x="1280160" y="4489704"/>
            <a:ext cx="3200400" cy="548640"/>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E7EBF2"/>
                </a:solidFill>
                <a:latin typeface="Calibri"/>
              </a:rPr>
              <a:t>Honest</a:t>
            </a:r>
          </a:p>
        </p:txBody>
      </p:sp>
      <p:sp>
        <p:nvSpPr>
          <p:cNvPr id="21" name="TextBox 20"/>
          <p:cNvSpPr txBox="1"/>
          <p:nvPr/>
        </p:nvSpPr>
        <p:spPr>
          <a:xfrm>
            <a:off x="4572000" y="4489704"/>
            <a:ext cx="7040880" cy="594360"/>
          </a:xfrm>
          <a:prstGeom prst="rect">
            <a:avLst/>
          </a:prstGeom>
          <a:noFill/>
        </p:spPr>
        <p:txBody>
          <a:bodyPr wrap="square" anchor="ctr" lIns="0" rIns="0" tIns="0" bIns="0">
            <a:spAutoFit/>
          </a:bodyPr>
          <a:lstStyle/>
          <a:p>
            <a:pPr algn="l">
              <a:lnSpc>
                <a:spcPct val="105000"/>
              </a:lnSpc>
              <a:spcBef>
                <a:spcPts val="0"/>
              </a:spcBef>
              <a:spcAft>
                <a:spcPts val="0"/>
              </a:spcAft>
            </a:pPr>
            <a:r>
              <a:rPr sz="1450" b="0" i="0">
                <a:solidFill>
                  <a:srgbClr val="9AA3B5"/>
                </a:solidFill>
                <a:latin typeface="Calibri"/>
              </a:rPr>
              <a:t>Every number is auditable. I'll tell you what the data says — even when it isn't what you hoped.</a:t>
            </a:r>
          </a:p>
        </p:txBody>
      </p:sp>
      <p:sp>
        <p:nvSpPr>
          <p:cNvPr id="22" name="Rectangle 21"/>
          <p:cNvSpPr/>
          <p:nvPr/>
        </p:nvSpPr>
        <p:spPr>
          <a:xfrm>
            <a:off x="1280160" y="5276088"/>
            <a:ext cx="10332720" cy="9144"/>
          </a:xfrm>
          <a:prstGeom prst="rect">
            <a:avLst/>
          </a:prstGeom>
          <a:solidFill>
            <a:srgbClr val="23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5440680"/>
            <a:ext cx="512064" cy="512064"/>
          </a:xfrm>
          <a:prstGeom prst="roundRect">
            <a:avLst>
              <a:gd name="adj" fmla="val 24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440680"/>
            <a:ext cx="512064" cy="512064"/>
          </a:xfrm>
          <a:prstGeom prst="rect">
            <a:avLst/>
          </a:prstGeom>
          <a:noFill/>
        </p:spPr>
        <p:txBody>
          <a:bodyPr wrap="square" anchor="ctr" lIns="0" rIns="0" tIns="0" bIns="0">
            <a:spAutoFit/>
          </a:bodyPr>
          <a:lstStyle/>
          <a:p>
            <a:pPr algn="ctr">
              <a:lnSpc>
                <a:spcPct val="100000"/>
              </a:lnSpc>
              <a:spcBef>
                <a:spcPts val="0"/>
              </a:spcBef>
              <a:spcAft>
                <a:spcPts val="0"/>
              </a:spcAft>
            </a:pPr>
            <a:r>
              <a:rPr sz="1700" b="1" i="0">
                <a:solidFill>
                  <a:srgbClr val="FFFFFF"/>
                </a:solidFill>
                <a:latin typeface="Consolas"/>
              </a:rPr>
              <a:t>4</a:t>
            </a:r>
          </a:p>
        </p:txBody>
      </p:sp>
      <p:sp>
        <p:nvSpPr>
          <p:cNvPr id="25" name="TextBox 24"/>
          <p:cNvSpPr txBox="1"/>
          <p:nvPr/>
        </p:nvSpPr>
        <p:spPr>
          <a:xfrm>
            <a:off x="1280160" y="5404104"/>
            <a:ext cx="3200400" cy="548640"/>
          </a:xfrm>
          <a:prstGeom prst="rect">
            <a:avLst/>
          </a:prstGeom>
          <a:noFill/>
        </p:spPr>
        <p:txBody>
          <a:bodyPr wrap="square" anchor="ctr" lIns="0" rIns="0" tIns="0" bIns="0">
            <a:spAutoFit/>
          </a:bodyPr>
          <a:lstStyle/>
          <a:p>
            <a:pPr algn="l">
              <a:lnSpc>
                <a:spcPct val="100000"/>
              </a:lnSpc>
              <a:spcBef>
                <a:spcPts val="0"/>
              </a:spcBef>
              <a:spcAft>
                <a:spcPts val="0"/>
              </a:spcAft>
            </a:pPr>
            <a:r>
              <a:rPr sz="1800" b="1" i="0">
                <a:solidFill>
                  <a:srgbClr val="E7EBF2"/>
                </a:solidFill>
                <a:latin typeface="Calibri"/>
              </a:rPr>
              <a:t>Personal</a:t>
            </a:r>
          </a:p>
        </p:txBody>
      </p:sp>
      <p:sp>
        <p:nvSpPr>
          <p:cNvPr id="26" name="TextBox 25"/>
          <p:cNvSpPr txBox="1"/>
          <p:nvPr/>
        </p:nvSpPr>
        <p:spPr>
          <a:xfrm>
            <a:off x="4572000" y="5404104"/>
            <a:ext cx="7040880" cy="594360"/>
          </a:xfrm>
          <a:prstGeom prst="rect">
            <a:avLst/>
          </a:prstGeom>
          <a:noFill/>
        </p:spPr>
        <p:txBody>
          <a:bodyPr wrap="square" anchor="ctr" lIns="0" rIns="0" tIns="0" bIns="0">
            <a:spAutoFit/>
          </a:bodyPr>
          <a:lstStyle/>
          <a:p>
            <a:pPr algn="l">
              <a:lnSpc>
                <a:spcPct val="105000"/>
              </a:lnSpc>
              <a:spcBef>
                <a:spcPts val="0"/>
              </a:spcBef>
              <a:spcAft>
                <a:spcPts val="0"/>
              </a:spcAft>
            </a:pPr>
            <a:r>
              <a:rPr sz="1450" b="0" i="0">
                <a:solidFill>
                  <a:srgbClr val="9AA3B5"/>
                </a:solidFill>
                <a:latin typeface="Calibri"/>
              </a:rPr>
              <a:t>You work directly with me. I actually care whether your business does better.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310896" cy="310896"/>
          </a:xfrm>
          <a:prstGeom prst="roundRect">
            <a:avLst>
              <a:gd name="adj" fmla="val 28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310896" cy="310896"/>
          </a:xfrm>
          <a:prstGeom prst="rect">
            <a:avLst/>
          </a:prstGeom>
          <a:noFill/>
        </p:spPr>
        <p:txBody>
          <a:bodyPr wrap="square" anchor="ctr" lIns="0" rIns="0" tIns="0" bIns="0">
            <a:spAutoFit/>
          </a:bodyPr>
          <a:lstStyle/>
          <a:p>
            <a:pPr algn="ctr">
              <a:lnSpc>
                <a:spcPct val="100000"/>
              </a:lnSpc>
              <a:spcBef>
                <a:spcPts val="0"/>
              </a:spcBef>
              <a:spcAft>
                <a:spcPts val="0"/>
              </a:spcAft>
            </a:pPr>
            <a:r>
              <a:rPr sz="1500" b="1" i="0">
                <a:solidFill>
                  <a:srgbClr val="FFFFFF"/>
                </a:solidFill>
                <a:latin typeface="Calibri"/>
              </a:rPr>
              <a:t>Q</a:t>
            </a:r>
          </a:p>
        </p:txBody>
      </p:sp>
      <p:sp>
        <p:nvSpPr>
          <p:cNvPr id="5" name="TextBox 4"/>
          <p:cNvSpPr txBox="1"/>
          <p:nvPr/>
        </p:nvSpPr>
        <p:spPr>
          <a:xfrm>
            <a:off x="932688" y="457200"/>
            <a:ext cx="2743200" cy="310896"/>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E7EBF2"/>
                </a:solidFill>
                <a:latin typeface="Calibri"/>
              </a:rPr>
              <a:t>Quarry</a:t>
            </a:r>
          </a:p>
        </p:txBody>
      </p:sp>
      <p:sp>
        <p:nvSpPr>
          <p:cNvPr id="6" name="TextBox 5"/>
          <p:cNvSpPr txBox="1"/>
          <p:nvPr/>
        </p:nvSpPr>
        <p:spPr>
          <a:xfrm>
            <a:off x="548640" y="2148840"/>
            <a:ext cx="10972800" cy="36576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EA4D6"/>
                </a:solidFill>
                <a:latin typeface="Consolas"/>
              </a:rPr>
              <a:t>LET'S START</a:t>
            </a:r>
          </a:p>
        </p:txBody>
      </p:sp>
      <p:sp>
        <p:nvSpPr>
          <p:cNvPr id="7" name="TextBox 6"/>
          <p:cNvSpPr txBox="1"/>
          <p:nvPr/>
        </p:nvSpPr>
        <p:spPr>
          <a:xfrm>
            <a:off x="530352" y="2514600"/>
            <a:ext cx="11155680" cy="1371600"/>
          </a:xfrm>
          <a:prstGeom prst="rect">
            <a:avLst/>
          </a:prstGeom>
          <a:noFill/>
        </p:spPr>
        <p:txBody>
          <a:bodyPr wrap="square" anchor="t" lIns="0" rIns="0" tIns="0" bIns="0">
            <a:spAutoFit/>
          </a:bodyPr>
          <a:lstStyle/>
          <a:p>
            <a:pPr algn="l">
              <a:lnSpc>
                <a:spcPct val="100000"/>
              </a:lnSpc>
              <a:spcBef>
                <a:spcPts val="0"/>
              </a:spcBef>
              <a:spcAft>
                <a:spcPts val="0"/>
              </a:spcAft>
            </a:pPr>
            <a:r>
              <a:rPr sz="4600" b="1" i="0">
                <a:solidFill>
                  <a:srgbClr val="E7EBF2"/>
                </a:solidFill>
                <a:latin typeface="Calibri"/>
              </a:rPr>
              <a:t>One free analysis of your data.</a:t>
            </a:r>
          </a:p>
          <a:p>
            <a:pPr algn="l">
              <a:lnSpc>
                <a:spcPct val="100000"/>
              </a:lnSpc>
              <a:spcBef>
                <a:spcPts val="0"/>
              </a:spcBef>
              <a:spcAft>
                <a:spcPts val="0"/>
              </a:spcAft>
            </a:pPr>
            <a:r>
              <a:rPr sz="4600" b="1" i="0">
                <a:solidFill>
                  <a:srgbClr val="2F6BFF"/>
                </a:solidFill>
                <a:latin typeface="Calibri"/>
              </a:rPr>
              <a:t>No cost. No commitment.</a:t>
            </a:r>
          </a:p>
        </p:txBody>
      </p:sp>
      <p:sp>
        <p:nvSpPr>
          <p:cNvPr id="8" name="TextBox 7"/>
          <p:cNvSpPr txBox="1"/>
          <p:nvPr/>
        </p:nvSpPr>
        <p:spPr>
          <a:xfrm>
            <a:off x="548640" y="4480560"/>
            <a:ext cx="9601200" cy="914400"/>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9AA3B5"/>
                </a:solidFill>
                <a:latin typeface="Calibri"/>
              </a:rPr>
              <a:t>Send me a sample of your data and I'll come back with real insights. If it's useful, we talk about what's next. If it's not, you've lost nothing.</a:t>
            </a:r>
          </a:p>
        </p:txBody>
      </p:sp>
      <p:sp>
        <p:nvSpPr>
          <p:cNvPr id="9" name="Rounded Rectangle 8"/>
          <p:cNvSpPr/>
          <p:nvPr/>
        </p:nvSpPr>
        <p:spPr>
          <a:xfrm>
            <a:off x="548640" y="5577840"/>
            <a:ext cx="4709160" cy="658368"/>
          </a:xfrm>
          <a:prstGeom prst="roundRect">
            <a:avLst>
              <a:gd name="adj" fmla="val 5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577840"/>
            <a:ext cx="4709160" cy="658368"/>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FFFFFF"/>
                </a:solidFill>
                <a:latin typeface="Calibri"/>
              </a:rPr>
              <a:t>rhnld.25@gmail.com</a:t>
            </a:r>
          </a:p>
        </p:txBody>
      </p:sp>
      <p:sp>
        <p:nvSpPr>
          <p:cNvPr id="11" name="TextBox 10"/>
          <p:cNvSpPr txBox="1"/>
          <p:nvPr/>
        </p:nvSpPr>
        <p:spPr>
          <a:xfrm>
            <a:off x="5486400" y="5577840"/>
            <a:ext cx="5943600" cy="658368"/>
          </a:xfrm>
          <a:prstGeom prst="rect">
            <a:avLst/>
          </a:prstGeom>
          <a:noFill/>
        </p:spPr>
        <p:txBody>
          <a:bodyPr wrap="square" anchor="ctr" lIns="0" rIns="0" tIns="0" bIns="0">
            <a:spAutoFit/>
          </a:bodyPr>
          <a:lstStyle/>
          <a:p>
            <a:pPr algn="l">
              <a:lnSpc>
                <a:spcPct val="100000"/>
              </a:lnSpc>
              <a:spcBef>
                <a:spcPts val="0"/>
              </a:spcBef>
              <a:spcAft>
                <a:spcPts val="0"/>
              </a:spcAft>
            </a:pPr>
            <a:r>
              <a:rPr sz="1400" b="0" i="1">
                <a:solidFill>
                  <a:srgbClr val="9AA3B5"/>
                </a:solidFill>
                <a:latin typeface="Calibri"/>
              </a:rPr>
              <a:t>Quarry — your fractional data analyst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